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8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5580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— CONCEPTION DU PRODUIT INDUSTRIEL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6949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étude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mécanisme de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 robotique GRIFFE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d'études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617720"/>
            <a:ext cx="2926080" cy="0"/>
          </a:xfrm>
          <a:prstGeom prst="line">
            <a:avLst/>
          </a:prstGeom>
          <a:noFill/>
          <a:ln w="25400">
            <a:solidFill>
              <a:srgbClr val="E874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8920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Abdelghafor Elhamdaoui, Walid Anebarou
</a:t>
            </a:r>
            <a:r>
              <a:rPr lang="en-US" sz="1400" b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Mohammed Cherrafi
</a:t>
            </a:r>
            <a:r>
              <a:rPr lang="en-US" sz="1400" b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2023 - 2024</a:t>
            </a:r>
            <a:endParaRPr lang="en-US" sz="1400" dirty="0"/>
          </a:p>
        </p:txBody>
      </p:sp>
      <p:pic>
        <p:nvPicPr>
          <p:cNvPr id="8" name="Image 0" descr="/home/claude/pptimg/bra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188720"/>
            <a:ext cx="3291840" cy="2907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195681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3347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670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et méthodologie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346704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mécanique du bras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059936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409651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fonctionnelle &amp; modélisation géométrique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77316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45920" y="480974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électronique et commande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552297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Résultats, limites et perspectives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étude d'un mécanisme de bras robotique GRIFFE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général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robotique manipulatrice occupe aujourd'hui une place stratégique dans l'industrie : elle remplace avantageusement l'opérateur humain pour des tâches répétitives, précises ou pénibles, tout en améliorant productivité, qualité et sécurité.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bras robotique industriel (robot articulé) reproduit la cinématique d'un bras humain grâce à une succession d'articulations. Ce projet porte sur l'étude et la réalisation d'un bras de type GRIFFE.</a:t>
            </a:r>
            <a:endParaRPr lang="en-US" sz="1600" dirty="0"/>
          </a:p>
        </p:txBody>
      </p:sp>
      <p:pic>
        <p:nvPicPr>
          <p:cNvPr id="6" name="Image 0" descr="/home/claude/pptimg/design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37360"/>
            <a:ext cx="411480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étude d'un mécanisme de bras robotique GRIFFE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23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PROBLÉMATIQUE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2103120"/>
            <a:ext cx="96012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37360" y="2377440"/>
            <a:ext cx="8686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concevoir, modéliser et réaliser un bras manipulateur de type GRIFFE à quatre degrés de liberté, capable de saisir et de déplacer des objets avec précision, tout en restant simple à fabriquer, économique et pilotable à distance 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étude d'un mécanisme de bras robotique GRIFFE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OBJECTIFS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01952"/>
            <a:ext cx="384048" cy="384048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01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 besoin fonctionnel et traduire le cahier des charges en solutions techniques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679192"/>
            <a:ext cx="384048" cy="384048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79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65176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l'architecture mécanique du bras (base, bras, pince) sous CAO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456432"/>
            <a:ext cx="384048" cy="384048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456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42900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Établir le modèle géométrique direct selon la convention de Denavit-Hartenberg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233672"/>
            <a:ext cx="384048" cy="384048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33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20624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Réaliser la chaîne de commande électronique (Arduino, moteurs, capteurs)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5010912"/>
            <a:ext cx="384048" cy="384048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010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98348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une application mobile de pilotage sans fil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étude d'un mécanisme de bras robotique GRIFFE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MÉTHODOLOGIE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d'ingénierie adoptée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103120" cy="2468880"/>
          </a:xfrm>
          <a:prstGeom prst="roundRect">
            <a:avLst>
              <a:gd name="adj" fmla="val 434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1460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besoin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3474720"/>
            <a:ext cx="1883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Bête à cornes, SADT,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pieuvre, FAST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33472" y="3438144"/>
            <a:ext cx="301752" cy="164592"/>
          </a:xfrm>
          <a:prstGeom prst="rightArrow">
            <a:avLst/>
          </a:prstGeom>
          <a:solidFill>
            <a:srgbClr val="E8743B"/>
          </a:solidFill>
          <a:ln/>
        </p:spPr>
      </p:sp>
      <p:sp>
        <p:nvSpPr>
          <p:cNvPr id="8" name="Shape 6"/>
          <p:cNvSpPr/>
          <p:nvPr/>
        </p:nvSpPr>
        <p:spPr>
          <a:xfrm>
            <a:off x="2788920" y="2286000"/>
            <a:ext cx="2103120" cy="2468880"/>
          </a:xfrm>
          <a:prstGeom prst="roundRect">
            <a:avLst>
              <a:gd name="adj" fmla="val 4348"/>
            </a:avLst>
          </a:prstGeom>
          <a:solidFill>
            <a:srgbClr val="223559"/>
          </a:solidFill>
          <a:ln/>
        </p:spPr>
      </p:sp>
      <p:sp>
        <p:nvSpPr>
          <p:cNvPr id="9" name="Text 7"/>
          <p:cNvSpPr/>
          <p:nvPr/>
        </p:nvSpPr>
        <p:spPr>
          <a:xfrm>
            <a:off x="2898648" y="251460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mécanique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98648" y="3474720"/>
            <a:ext cx="1883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CAO, choix des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matériaux (ABS)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73752" y="3438144"/>
            <a:ext cx="301752" cy="164592"/>
          </a:xfrm>
          <a:prstGeom prst="rightArrow">
            <a:avLst/>
          </a:prstGeom>
          <a:solidFill>
            <a:srgbClr val="E8743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2286000"/>
            <a:ext cx="2103120" cy="2468880"/>
          </a:xfrm>
          <a:prstGeom prst="roundRect">
            <a:avLst>
              <a:gd name="adj" fmla="val 4348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138928" y="251460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géométrique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38928" y="3474720"/>
            <a:ext cx="1883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de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Denavit-Hartenberg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14032" y="3438144"/>
            <a:ext cx="301752" cy="164592"/>
          </a:xfrm>
          <a:prstGeom prst="rightArrow">
            <a:avLst/>
          </a:prstGeom>
          <a:solidFill>
            <a:srgbClr val="E8743B"/>
          </a:solidFill>
          <a:ln/>
        </p:spPr>
      </p:sp>
      <p:sp>
        <p:nvSpPr>
          <p:cNvPr id="16" name="Shape 14"/>
          <p:cNvSpPr/>
          <p:nvPr/>
        </p:nvSpPr>
        <p:spPr>
          <a:xfrm>
            <a:off x="7269480" y="2286000"/>
            <a:ext cx="2103120" cy="2468880"/>
          </a:xfrm>
          <a:prstGeom prst="roundRect">
            <a:avLst>
              <a:gd name="adj" fmla="val 4348"/>
            </a:avLst>
          </a:prstGeom>
          <a:solidFill>
            <a:srgbClr val="223559"/>
          </a:solidFill>
          <a:ln/>
        </p:spPr>
      </p:sp>
      <p:sp>
        <p:nvSpPr>
          <p:cNvPr id="17" name="Text 15"/>
          <p:cNvSpPr/>
          <p:nvPr/>
        </p:nvSpPr>
        <p:spPr>
          <a:xfrm>
            <a:off x="7379208" y="251460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électronique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79208" y="3474720"/>
            <a:ext cx="1883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Arduino, moteurs,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servomoteur, HC-05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54312" y="3438144"/>
            <a:ext cx="301752" cy="164592"/>
          </a:xfrm>
          <a:prstGeom prst="rightArrow">
            <a:avLst/>
          </a:prstGeom>
          <a:solidFill>
            <a:srgbClr val="E8743B"/>
          </a:solidFill>
          <a:ln/>
        </p:spPr>
      </p:sp>
      <p:sp>
        <p:nvSpPr>
          <p:cNvPr id="20" name="Shape 18"/>
          <p:cNvSpPr/>
          <p:nvPr/>
        </p:nvSpPr>
        <p:spPr>
          <a:xfrm>
            <a:off x="9509760" y="2286000"/>
            <a:ext cx="2103120" cy="2468880"/>
          </a:xfrm>
          <a:prstGeom prst="roundRect">
            <a:avLst>
              <a:gd name="adj" fmla="val 4348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9619488" y="251460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&amp;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19488" y="3474720"/>
            <a:ext cx="1883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mobile,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du prototype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étude d'un mécanisme de bras robotique GRIFFE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mécanique du bras</a:t>
            </a:r>
            <a:endParaRPr lang="en-US" sz="3000" dirty="0"/>
          </a:p>
        </p:txBody>
      </p:sp>
      <p:pic>
        <p:nvPicPr>
          <p:cNvPr id="4" name="Image 0" descr="/home/claude/pptimg/bra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3246120" cy="2871216"/>
          </a:xfrm>
          <a:prstGeom prst="rect">
            <a:avLst/>
          </a:prstGeom>
        </p:spPr>
      </p:pic>
      <p:pic>
        <p:nvPicPr>
          <p:cNvPr id="5" name="Image 1" descr="/home/claude/pptimg/pinc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1783080"/>
            <a:ext cx="3017520" cy="28895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06640" y="19202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43B"/>
                </a:solidFill>
              </a:rPr>
              <a:t>•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680960" y="19202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 à deux axes de rotation, entraînés par entretoises crantées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406640" y="2816352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43B"/>
                </a:solidFill>
              </a:rPr>
              <a:t>•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680960" y="281635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Matériau retenu : ABS, pour sa résistance mécanique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406640" y="3712464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43B"/>
                </a:solidFill>
              </a:rPr>
              <a:t>•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680960" y="3712464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Pince (organe terminal) : servomoteur SG90, ouverture jusqu'à 55 mm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406640" y="4608576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43B"/>
                </a:solidFill>
              </a:rPr>
              <a:t>•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680960" y="4608576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servomoteurs SG90 au total pour l'ensemble des articulations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étude d'un mécanisme de bras robotique GRIFFE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ANALYSE FONCTIONNELLE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Formalisation du besoin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2402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Bête à cornes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qui rend-il service, sur quoi agit-il, dans quel but — formulation du besoin.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92024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11880" y="22402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Actigramme SADT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11880" y="297180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globale du système représentée sous forme de boîte structurée.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22402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pieuvre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5080" y="297180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fonctions de service : 1 fonction principale, 6 fonctions contraintes.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0" y="192024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98280" y="22402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FAST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98280" y="297180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Décomposition hiérarchique des fonctions en sous-fonctions techniques.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étude d'un mécanisme de bras robotique GRIFFE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MODÉLISATION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géométrique (Denavit-Hartenberg)</a:t>
            </a:r>
            <a:endParaRPr lang="en-US" sz="3000" dirty="0"/>
          </a:p>
        </p:txBody>
      </p:sp>
      <p:pic>
        <p:nvPicPr>
          <p:cNvPr id="4" name="Image 0" descr="/home/claude/pptimg/d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0"/>
            <a:ext cx="5212080" cy="30723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6596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43B"/>
                </a:solidFill>
              </a:rPr>
              <a:t>•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19659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 à 4 degrés de liberté (3 servomoteurs d'articulation + 1 servomoteur de pince)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43B"/>
                </a:solidFill>
              </a:rPr>
              <a:t>•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Repères associés à chaque articulation selon la convention DH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8620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43B"/>
                </a:solidFill>
              </a:rPr>
              <a:t>•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38862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géométriques : ai, αi, di, Θi pour chaque liaison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484632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43B"/>
                </a:solidFill>
              </a:rPr>
              <a:t>•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48463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du modèle géométrique direct (MGD) par produit des matrices de transformation homogène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étude d'un mécanisme de bras robotique GRIFFE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RÉALISATION ÉLECTRONIQUE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de commande électronique</a:t>
            </a:r>
            <a:endParaRPr lang="en-US" sz="3000" dirty="0"/>
          </a:p>
        </p:txBody>
      </p:sp>
      <p:pic>
        <p:nvPicPr>
          <p:cNvPr id="4" name="Image 0" descr="/home/claude/pptimg/arduin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4023360" cy="1810512"/>
          </a:xfrm>
          <a:prstGeom prst="rect">
            <a:avLst/>
          </a:prstGeom>
        </p:spPr>
      </p:pic>
      <p:pic>
        <p:nvPicPr>
          <p:cNvPr id="5" name="Image 1" descr="/home/claude/pptimg/cnc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77640"/>
            <a:ext cx="2834640" cy="25328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12080" y="196596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43B"/>
                </a:solidFill>
              </a:rPr>
              <a:t>•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486400" y="19659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Arduino UNO (ATmega328P) + CNC Shield v3.0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212080" y="27432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43B"/>
                </a:solidFill>
              </a:rPr>
              <a:t>•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486400" y="27432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moteurs pas à pas NEMA 17, pilotés par drivers A4988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212080" y="35204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43B"/>
                </a:solidFill>
              </a:rPr>
              <a:t>•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486400" y="35204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servomoteur SG90 pour la pince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212080" y="42976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43B"/>
                </a:solidFill>
              </a:rPr>
              <a:t>•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86400" y="42976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Bluetooth HC-05 pour la liaison sans fil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212080" y="50749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43B"/>
                </a:solidFill>
              </a:rPr>
              <a:t>•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486400" y="50749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Alimentation externe 12 V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étude d'un mécanisme de bras robotique GRIFFE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23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PILOTAGE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de pilotage</a:t>
            </a:r>
            <a:endParaRPr lang="en-US" sz="3000" dirty="0"/>
          </a:p>
        </p:txBody>
      </p:sp>
      <p:pic>
        <p:nvPicPr>
          <p:cNvPr id="4" name="Image 0" descr="/home/claude/pptimg/appinte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554480"/>
            <a:ext cx="329184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2066544"/>
            <a:ext cx="128016" cy="12801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6" name="Text 3"/>
          <p:cNvSpPr/>
          <p:nvPr/>
        </p:nvSpPr>
        <p:spPr>
          <a:xfrm>
            <a:off x="1188720" y="201168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Développée sous App Inventor (MIT)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22960" y="2779776"/>
            <a:ext cx="128016" cy="12801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2724912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Bluetooth avec le module HC-05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22960" y="3493008"/>
            <a:ext cx="128016" cy="12801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3438144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Boutons dédiés pour chaque articulation (base, épaule, coude)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822960" y="4206240"/>
            <a:ext cx="128016" cy="12801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4151376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Curseur de commande du servomoteur de la pince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22960" y="4919472"/>
            <a:ext cx="128016" cy="12801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4864608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des commandes à l'Arduino via liaison série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étude d'un mécanisme de bras robotique GRIFFE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RÉSULTATS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obtenus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fonctionnel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 manipulateur GRIFFE assemblé, 4 degrés de liberté opérationnels.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240280"/>
            <a:ext cx="502920" cy="50292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6280" y="2926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géométrique validé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3474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MGD établi et vérifié à l'aide du logiciel MATLAB.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0" y="196596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0" y="2240280"/>
            <a:ext cx="502920" cy="50292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38160" y="2926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sans fil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3474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complet du bras via l'application mobile Bluetooth.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étude d'un mécanisme de bras robotique GRIFFE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LIMITES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du travail réalisé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FCEEE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4028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détection d'obstacle en temps réel : dans certaines configurations, le moteur peut se bloquer mécaniquement lorsqu'un obstacle empêche le mouvement prévu. Une solution n'a pas pu être approfondie dans le temps imparti au projet.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étude d'un mécanisme de bras robotique GRIFFE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PERSPECTIVES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d'amélioration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d'obstacle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de proximité ou de courant pour arrêter automatiquement le moteur avant blocage.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96596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26280" y="2834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géométrique inverse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26280" y="3474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Piloter le bras directement par coordonnées cartésiennes plutôt que par angles articulaires.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196596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38160" y="2834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Asservissement en boucle fermée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138160" y="3474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la précision de positionnement du bras robotique.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étude d'un mécanisme de bras robotique GRIFFE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a permis de mener une démarche d'ingénierie complète — de l'analyse du besoin à la réalisation d'un prototype fonctionnel — et d'aboutir à un bras manipulateur GRIFFE opérationnel, modélisé, commandé et piloté sans fil.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des résultats techniques, il nous a permis de développer des compétences en conception mécanique, modélisation, programmation embarquée et gestion de projet — une préparation précieuse pour notre future carrière professionnelle.</a:t>
            </a:r>
            <a:endParaRPr lang="en-US" sz="1800" dirty="0"/>
          </a:p>
        </p:txBody>
      </p:sp>
      <p:pic>
        <p:nvPicPr>
          <p:cNvPr id="5" name="Image 0" descr="/home/claude/pptimg/bra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737360"/>
            <a:ext cx="2834640" cy="2505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étude d'un mécanisme de bras robotique GRIFFE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3566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982</Words>
  <Application>Microsoft Office PowerPoint</Application>
  <PresentationFormat>Widescreen</PresentationFormat>
  <Paragraphs>184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walid anebarou</dc:creator>
  <cp:lastModifiedBy>waled sama</cp:lastModifiedBy>
  <cp:revision>2</cp:revision>
  <dcterms:created xsi:type="dcterms:W3CDTF">2026-08-06T19:50:40Z</dcterms:created>
  <dcterms:modified xsi:type="dcterms:W3CDTF">2026-08-08T19:12:10Z</dcterms:modified>
</cp:coreProperties>
</file>