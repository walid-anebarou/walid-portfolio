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3864"/>
          </a:solidFill>
          <a:ln/>
        </p:spPr>
      </p:sp>
      <p:sp>
        <p:nvSpPr>
          <p:cNvPr id="3" name="Shape 1"/>
          <p:cNvSpPr/>
          <p:nvPr/>
        </p:nvSpPr>
        <p:spPr>
          <a:xfrm>
            <a:off x="0" y="4160520"/>
            <a:ext cx="12188952" cy="18288"/>
          </a:xfrm>
          <a:prstGeom prst="rect">
            <a:avLst/>
          </a:prstGeom>
          <a:solidFill>
            <a:srgbClr val="3E6BB5"/>
          </a:solidFill>
          <a:ln/>
        </p:spPr>
      </p:sp>
      <p:sp>
        <p:nvSpPr>
          <p:cNvPr id="4" name="Text 2"/>
          <p:cNvSpPr/>
          <p:nvPr/>
        </p:nvSpPr>
        <p:spPr>
          <a:xfrm>
            <a:off x="731520" y="1920240"/>
            <a:ext cx="10725912" cy="548640"/>
          </a:xfrm>
          <a:prstGeom prst="rect">
            <a:avLst/>
          </a:prstGeom>
          <a:noFill/>
          <a:ln/>
        </p:spPr>
        <p:txBody>
          <a:bodyPr wrap="square" rtlCol="0" anchor="ctr"/>
          <a:lstStyle/>
          <a:p>
            <a:pPr indent="0" marL="0">
              <a:buNone/>
            </a:pPr>
            <a:r>
              <a:rPr lang="en-US" sz="1600" b="1" spc="300" kern="0" dirty="0">
                <a:solidFill>
                  <a:srgbClr val="9FB6DE"/>
                </a:solidFill>
                <a:latin typeface="Calibri" pitchFamily="34" charset="0"/>
                <a:ea typeface="Calibri" pitchFamily="34" charset="-122"/>
                <a:cs typeface="Calibri" pitchFamily="34" charset="-120"/>
              </a:rPr>
              <a:t>RAPPORT DE STAGE D'OBSERVATION</a:t>
            </a:r>
            <a:endParaRPr lang="en-US" sz="1600" dirty="0"/>
          </a:p>
        </p:txBody>
      </p:sp>
      <p:sp>
        <p:nvSpPr>
          <p:cNvPr id="5" name="Text 3"/>
          <p:cNvSpPr/>
          <p:nvPr/>
        </p:nvSpPr>
        <p:spPr>
          <a:xfrm>
            <a:off x="731520" y="2468880"/>
            <a:ext cx="10725912" cy="1463040"/>
          </a:xfrm>
          <a:prstGeom prst="rect">
            <a:avLst/>
          </a:prstGeom>
          <a:noFill/>
          <a:ln/>
        </p:spPr>
        <p:txBody>
          <a:bodyPr wrap="square" rtlCol="0" anchor="ctr"/>
          <a:lstStyle/>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Initiation à la Conception Assistée par Ordinateur</a:t>
            </a:r>
            <a:endParaRPr lang="en-US" sz="3800" dirty="0"/>
          </a:p>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avec CATIA V5</a:t>
            </a:r>
            <a:endParaRPr lang="en-US" sz="3800" dirty="0"/>
          </a:p>
        </p:txBody>
      </p:sp>
      <p:sp>
        <p:nvSpPr>
          <p:cNvPr id="6" name="Text 4"/>
          <p:cNvSpPr/>
          <p:nvPr/>
        </p:nvSpPr>
        <p:spPr>
          <a:xfrm>
            <a:off x="731520" y="4343400"/>
            <a:ext cx="10725912" cy="457200"/>
          </a:xfrm>
          <a:prstGeom prst="rect">
            <a:avLst/>
          </a:prstGeom>
          <a:noFill/>
          <a:ln/>
        </p:spPr>
        <p:txBody>
          <a:bodyPr wrap="square" rtlCol="0" anchor="ctr"/>
          <a:lstStyle/>
          <a:p>
            <a:pPr indent="0" marL="0">
              <a:buNone/>
            </a:pPr>
            <a:r>
              <a:rPr lang="en-US" sz="1700" i="1" dirty="0">
                <a:solidFill>
                  <a:srgbClr val="C9D6EA"/>
                </a:solidFill>
                <a:latin typeface="Calibri" pitchFamily="34" charset="0"/>
                <a:ea typeface="Calibri" pitchFamily="34" charset="-122"/>
                <a:cs typeface="Calibri" pitchFamily="34" charset="-120"/>
              </a:rPr>
              <a:t>Stage réalisé au sein de Polydesign Systems — Tanger, Maroc</a:t>
            </a:r>
            <a:endParaRPr lang="en-US" sz="1700" dirty="0"/>
          </a:p>
        </p:txBody>
      </p:sp>
      <p:sp>
        <p:nvSpPr>
          <p:cNvPr id="7" name="Text 5"/>
          <p:cNvSpPr/>
          <p:nvPr/>
        </p:nvSpPr>
        <p:spPr>
          <a:xfrm>
            <a:off x="731520" y="5212080"/>
            <a:ext cx="10725912" cy="1280160"/>
          </a:xfrm>
          <a:prstGeom prst="rect">
            <a:avLst/>
          </a:prstGeom>
          <a:noFill/>
          <a:ln/>
        </p:spPr>
        <p:txBody>
          <a:bodyPr wrap="square"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M. Walid ANEBAROU</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Encadrant : M. Tahiri ABDEL-ILAH</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Lycée Qualifiant Al Khaouarizmi Technique — Filière CPI (BTS)</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Année universitaire 2022 / 2023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Sommaire</a:t>
            </a:r>
            <a:endParaRPr lang="en-US" sz="3000" dirty="0"/>
          </a:p>
        </p:txBody>
      </p:sp>
      <p:sp>
        <p:nvSpPr>
          <p:cNvPr id="3" name="Shape 1"/>
          <p:cNvSpPr/>
          <p:nvPr/>
        </p:nvSpPr>
        <p:spPr>
          <a:xfrm>
            <a:off x="548640" y="1554480"/>
            <a:ext cx="822960" cy="658368"/>
          </a:xfrm>
          <a:prstGeom prst="rect">
            <a:avLst/>
          </a:prstGeom>
          <a:solidFill>
            <a:srgbClr val="DCE6F1"/>
          </a:solidFill>
          <a:ln/>
        </p:spPr>
      </p:sp>
      <p:sp>
        <p:nvSpPr>
          <p:cNvPr id="4" name="Text 2"/>
          <p:cNvSpPr/>
          <p:nvPr/>
        </p:nvSpPr>
        <p:spPr>
          <a:xfrm>
            <a:off x="548640" y="155448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01</a:t>
            </a:r>
            <a:endParaRPr lang="en-US" sz="2000" dirty="0"/>
          </a:p>
        </p:txBody>
      </p:sp>
      <p:sp>
        <p:nvSpPr>
          <p:cNvPr id="5" name="Text 3"/>
          <p:cNvSpPr/>
          <p:nvPr/>
        </p:nvSpPr>
        <p:spPr>
          <a:xfrm>
            <a:off x="1554480" y="155448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Contexte et présentation de l'entreprise</a:t>
            </a:r>
            <a:endParaRPr lang="en-US" sz="1800" dirty="0"/>
          </a:p>
        </p:txBody>
      </p:sp>
      <p:sp>
        <p:nvSpPr>
          <p:cNvPr id="6" name="Shape 4"/>
          <p:cNvSpPr/>
          <p:nvPr/>
        </p:nvSpPr>
        <p:spPr>
          <a:xfrm>
            <a:off x="548640" y="2331720"/>
            <a:ext cx="822960" cy="658368"/>
          </a:xfrm>
          <a:prstGeom prst="rect">
            <a:avLst/>
          </a:prstGeom>
          <a:solidFill>
            <a:srgbClr val="DCE6F1"/>
          </a:solidFill>
          <a:ln/>
        </p:spPr>
      </p:sp>
      <p:sp>
        <p:nvSpPr>
          <p:cNvPr id="7" name="Text 5"/>
          <p:cNvSpPr/>
          <p:nvPr/>
        </p:nvSpPr>
        <p:spPr>
          <a:xfrm>
            <a:off x="548640" y="233172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02</a:t>
            </a:r>
            <a:endParaRPr lang="en-US" sz="2000" dirty="0"/>
          </a:p>
        </p:txBody>
      </p:sp>
      <p:sp>
        <p:nvSpPr>
          <p:cNvPr id="8" name="Text 6"/>
          <p:cNvSpPr/>
          <p:nvPr/>
        </p:nvSpPr>
        <p:spPr>
          <a:xfrm>
            <a:off x="1554480" y="233172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Problématique, objectifs et méthodologie</a:t>
            </a:r>
            <a:endParaRPr lang="en-US" sz="1800" dirty="0"/>
          </a:p>
        </p:txBody>
      </p:sp>
      <p:sp>
        <p:nvSpPr>
          <p:cNvPr id="9" name="Shape 7"/>
          <p:cNvSpPr/>
          <p:nvPr/>
        </p:nvSpPr>
        <p:spPr>
          <a:xfrm>
            <a:off x="548640" y="3108960"/>
            <a:ext cx="822960" cy="658368"/>
          </a:xfrm>
          <a:prstGeom prst="rect">
            <a:avLst/>
          </a:prstGeom>
          <a:solidFill>
            <a:srgbClr val="DCE6F1"/>
          </a:solidFill>
          <a:ln/>
        </p:spPr>
      </p:sp>
      <p:sp>
        <p:nvSpPr>
          <p:cNvPr id="10" name="Text 8"/>
          <p:cNvSpPr/>
          <p:nvPr/>
        </p:nvSpPr>
        <p:spPr>
          <a:xfrm>
            <a:off x="548640" y="310896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03</a:t>
            </a:r>
            <a:endParaRPr lang="en-US" sz="2000" dirty="0"/>
          </a:p>
        </p:txBody>
      </p:sp>
      <p:sp>
        <p:nvSpPr>
          <p:cNvPr id="11" name="Text 9"/>
          <p:cNvSpPr/>
          <p:nvPr/>
        </p:nvSpPr>
        <p:spPr>
          <a:xfrm>
            <a:off x="1554480" y="310896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Le logiciel CATIA V5</a:t>
            </a:r>
            <a:endParaRPr lang="en-US" sz="1800" dirty="0"/>
          </a:p>
        </p:txBody>
      </p:sp>
      <p:sp>
        <p:nvSpPr>
          <p:cNvPr id="12" name="Shape 10"/>
          <p:cNvSpPr/>
          <p:nvPr/>
        </p:nvSpPr>
        <p:spPr>
          <a:xfrm>
            <a:off x="548640" y="3886200"/>
            <a:ext cx="822960" cy="658368"/>
          </a:xfrm>
          <a:prstGeom prst="rect">
            <a:avLst/>
          </a:prstGeom>
          <a:solidFill>
            <a:srgbClr val="DCE6F1"/>
          </a:solidFill>
          <a:ln/>
        </p:spPr>
      </p:sp>
      <p:sp>
        <p:nvSpPr>
          <p:cNvPr id="13" name="Text 11"/>
          <p:cNvSpPr/>
          <p:nvPr/>
        </p:nvSpPr>
        <p:spPr>
          <a:xfrm>
            <a:off x="548640" y="388620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04</a:t>
            </a:r>
            <a:endParaRPr lang="en-US" sz="2000" dirty="0"/>
          </a:p>
        </p:txBody>
      </p:sp>
      <p:sp>
        <p:nvSpPr>
          <p:cNvPr id="14" name="Text 12"/>
          <p:cNvSpPr/>
          <p:nvPr/>
        </p:nvSpPr>
        <p:spPr>
          <a:xfrm>
            <a:off x="1554480" y="388620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Travaux réalisés : pièces mécaniques modélisées</a:t>
            </a:r>
            <a:endParaRPr lang="en-US" sz="1800" dirty="0"/>
          </a:p>
        </p:txBody>
      </p:sp>
      <p:sp>
        <p:nvSpPr>
          <p:cNvPr id="15" name="Shape 13"/>
          <p:cNvSpPr/>
          <p:nvPr/>
        </p:nvSpPr>
        <p:spPr>
          <a:xfrm>
            <a:off x="548640" y="4663440"/>
            <a:ext cx="822960" cy="658368"/>
          </a:xfrm>
          <a:prstGeom prst="rect">
            <a:avLst/>
          </a:prstGeom>
          <a:solidFill>
            <a:srgbClr val="DCE6F1"/>
          </a:solidFill>
          <a:ln/>
        </p:spPr>
      </p:sp>
      <p:sp>
        <p:nvSpPr>
          <p:cNvPr id="16" name="Text 14"/>
          <p:cNvSpPr/>
          <p:nvPr/>
        </p:nvSpPr>
        <p:spPr>
          <a:xfrm>
            <a:off x="548640" y="466344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05</a:t>
            </a:r>
            <a:endParaRPr lang="en-US" sz="2000" dirty="0"/>
          </a:p>
        </p:txBody>
      </p:sp>
      <p:sp>
        <p:nvSpPr>
          <p:cNvPr id="17" name="Text 15"/>
          <p:cNvSpPr/>
          <p:nvPr/>
        </p:nvSpPr>
        <p:spPr>
          <a:xfrm>
            <a:off x="1554480" y="466344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Bilan du stage et compétences acquises</a:t>
            </a:r>
            <a:endParaRPr lang="en-US" sz="1800" dirty="0"/>
          </a:p>
        </p:txBody>
      </p:sp>
      <p:sp>
        <p:nvSpPr>
          <p:cNvPr id="18" name="Shape 16"/>
          <p:cNvSpPr/>
          <p:nvPr/>
        </p:nvSpPr>
        <p:spPr>
          <a:xfrm>
            <a:off x="548640" y="5440680"/>
            <a:ext cx="822960" cy="658368"/>
          </a:xfrm>
          <a:prstGeom prst="rect">
            <a:avLst/>
          </a:prstGeom>
          <a:solidFill>
            <a:srgbClr val="DCE6F1"/>
          </a:solidFill>
          <a:ln/>
        </p:spPr>
      </p:sp>
      <p:sp>
        <p:nvSpPr>
          <p:cNvPr id="19" name="Text 17"/>
          <p:cNvSpPr/>
          <p:nvPr/>
        </p:nvSpPr>
        <p:spPr>
          <a:xfrm>
            <a:off x="548640" y="5440680"/>
            <a:ext cx="822960" cy="658368"/>
          </a:xfrm>
          <a:prstGeom prst="rect">
            <a:avLst/>
          </a:prstGeom>
          <a:noFill/>
          <a:ln/>
        </p:spPr>
        <p:txBody>
          <a:bodyPr wrap="square"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06</a:t>
            </a:r>
            <a:endParaRPr lang="en-US" sz="2000" dirty="0"/>
          </a:p>
        </p:txBody>
      </p:sp>
      <p:sp>
        <p:nvSpPr>
          <p:cNvPr id="20" name="Text 18"/>
          <p:cNvSpPr/>
          <p:nvPr/>
        </p:nvSpPr>
        <p:spPr>
          <a:xfrm>
            <a:off x="1554480" y="5440680"/>
            <a:ext cx="8686800" cy="658368"/>
          </a:xfrm>
          <a:prstGeom prst="rect">
            <a:avLst/>
          </a:prstGeom>
          <a:noFill/>
          <a:ln/>
        </p:spPr>
        <p:txBody>
          <a:bodyPr wrap="square" rtlCol="0" anchor="ctr"/>
          <a:lstStyle/>
          <a:p>
            <a:pPr indent="0" marL="0">
              <a:buNone/>
            </a:pPr>
            <a:r>
              <a:rPr lang="en-US" sz="1800" dirty="0">
                <a:solidFill>
                  <a:srgbClr val="262626"/>
                </a:solidFill>
                <a:latin typeface="Calibri" pitchFamily="34" charset="0"/>
                <a:ea typeface="Calibri" pitchFamily="34" charset="-122"/>
                <a:cs typeface="Calibri" pitchFamily="34" charset="-120"/>
              </a:rPr>
              <a:t>Conclusion et perspectives</a:t>
            </a:r>
            <a:endParaRPr lang="en-US" sz="1800" dirty="0"/>
          </a:p>
        </p:txBody>
      </p:sp>
      <p:sp>
        <p:nvSpPr>
          <p:cNvPr id="21" name="Text 19"/>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20"/>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Contexte général du stage</a:t>
            </a:r>
            <a:endParaRPr lang="en-US" sz="3000" dirty="0"/>
          </a:p>
        </p:txBody>
      </p:sp>
      <p:sp>
        <p:nvSpPr>
          <p:cNvPr id="3" name="Text 1"/>
          <p:cNvSpPr/>
          <p:nvPr/>
        </p:nvSpPr>
        <p:spPr>
          <a:xfrm>
            <a:off x="548640" y="1554480"/>
            <a:ext cx="6035040" cy="3108960"/>
          </a:xfrm>
          <a:prstGeom prst="rect">
            <a:avLst/>
          </a:prstGeom>
          <a:noFill/>
          <a:ln/>
        </p:spPr>
        <p:txBody>
          <a:bodyPr wrap="square" rtlCol="0" anchor="ctr"/>
          <a:lstStyle/>
          <a:p>
            <a:pPr indent="0" marL="0">
              <a:lnSpc>
                <a:spcPct val="150000"/>
              </a:lnSpc>
              <a:buNone/>
            </a:pPr>
            <a:r>
              <a:rPr lang="en-US" sz="1600" b="1" dirty="0">
                <a:solidFill>
                  <a:srgbClr val="1F3864"/>
                </a:solidFill>
                <a:latin typeface="Calibri" pitchFamily="34" charset="0"/>
                <a:ea typeface="Calibri" pitchFamily="34" charset="-122"/>
                <a:cs typeface="Calibri" pitchFamily="34" charset="-120"/>
              </a:rPr>
              <a:t>Formation : </a:t>
            </a:r>
            <a:pPr indent="0" marL="0">
              <a:lnSpc>
                <a:spcPct val="150000"/>
              </a:lnSpc>
              <a:buNone/>
            </a:pPr>
            <a:r>
              <a:rPr lang="en-US" sz="1600" dirty="0">
                <a:solidFill>
                  <a:srgbClr val="262626"/>
                </a:solidFill>
                <a:latin typeface="Calibri" pitchFamily="34" charset="0"/>
                <a:ea typeface="Calibri" pitchFamily="34" charset="-122"/>
                <a:cs typeface="Calibri" pitchFamily="34" charset="-120"/>
              </a:rPr>
              <a:t>BTS Conception du Produit Industriel — Lycée Al Khaouarizmi Technique</a:t>
            </a:r>
            <a:endParaRPr lang="en-US" sz="1600" dirty="0"/>
          </a:p>
          <a:p>
            <a:pPr indent="0" marL="0">
              <a:lnSpc>
                <a:spcPct val="150000"/>
              </a:lnSpc>
              <a:buNone/>
            </a:pPr>
            <a:r>
              <a:rPr lang="en-US" sz="1600" b="1" dirty="0">
                <a:solidFill>
                  <a:srgbClr val="1F3864"/>
                </a:solidFill>
                <a:latin typeface="Calibri" pitchFamily="34" charset="0"/>
                <a:ea typeface="Calibri" pitchFamily="34" charset="-122"/>
                <a:cs typeface="Calibri" pitchFamily="34" charset="-120"/>
              </a:rPr>
              <a:t>Période : </a:t>
            </a:r>
            <a:pPr indent="0" marL="0">
              <a:lnSpc>
                <a:spcPct val="150000"/>
              </a:lnSpc>
              <a:buNone/>
            </a:pPr>
            <a:r>
              <a:rPr lang="en-US" sz="1600" dirty="0">
                <a:solidFill>
                  <a:srgbClr val="262626"/>
                </a:solidFill>
                <a:latin typeface="Calibri" pitchFamily="34" charset="0"/>
                <a:ea typeface="Calibri" pitchFamily="34" charset="-122"/>
                <a:cs typeface="Calibri" pitchFamily="34" charset="-120"/>
              </a:rPr>
              <a:t>du 20 juillet au 10 août 2023 (3 semaines)</a:t>
            </a:r>
            <a:endParaRPr lang="en-US" sz="1600" dirty="0"/>
          </a:p>
          <a:p>
            <a:pPr indent="0" marL="0">
              <a:lnSpc>
                <a:spcPct val="150000"/>
              </a:lnSpc>
              <a:buNone/>
            </a:pPr>
            <a:r>
              <a:rPr lang="en-US" sz="1600" b="1" dirty="0">
                <a:solidFill>
                  <a:srgbClr val="1F3864"/>
                </a:solidFill>
                <a:latin typeface="Calibri" pitchFamily="34" charset="0"/>
                <a:ea typeface="Calibri" pitchFamily="34" charset="-122"/>
                <a:cs typeface="Calibri" pitchFamily="34" charset="-120"/>
              </a:rPr>
              <a:t>Lieu : </a:t>
            </a:r>
            <a:pPr indent="0" marL="0">
              <a:lnSpc>
                <a:spcPct val="150000"/>
              </a:lnSpc>
              <a:buNone/>
            </a:pPr>
            <a:r>
              <a:rPr lang="en-US" sz="1600" dirty="0">
                <a:solidFill>
                  <a:srgbClr val="262626"/>
                </a:solidFill>
                <a:latin typeface="Calibri" pitchFamily="34" charset="0"/>
                <a:ea typeface="Calibri" pitchFamily="34" charset="-122"/>
                <a:cs typeface="Calibri" pitchFamily="34" charset="-120"/>
              </a:rPr>
              <a:t>Polydesign Systems — Zone Franche de Boukhalef, Tanger</a:t>
            </a:r>
            <a:endParaRPr lang="en-US" sz="1600" dirty="0"/>
          </a:p>
          <a:p>
            <a:pPr indent="0" marL="0">
              <a:lnSpc>
                <a:spcPct val="150000"/>
              </a:lnSpc>
              <a:buNone/>
            </a:pPr>
            <a:r>
              <a:rPr lang="en-US" sz="1600" b="1" dirty="0">
                <a:solidFill>
                  <a:srgbClr val="1F3864"/>
                </a:solidFill>
                <a:latin typeface="Calibri" pitchFamily="34" charset="0"/>
                <a:ea typeface="Calibri" pitchFamily="34" charset="-122"/>
                <a:cs typeface="Calibri" pitchFamily="34" charset="-120"/>
              </a:rPr>
              <a:t>Service d'accueil : </a:t>
            </a:r>
            <a:pPr indent="0" marL="0">
              <a:lnSpc>
                <a:spcPct val="150000"/>
              </a:lnSpc>
              <a:buNone/>
            </a:pPr>
            <a:r>
              <a:rPr lang="en-US" sz="1600" dirty="0">
                <a:solidFill>
                  <a:srgbClr val="262626"/>
                </a:solidFill>
                <a:latin typeface="Calibri" pitchFamily="34" charset="0"/>
                <a:ea typeface="Calibri" pitchFamily="34" charset="-122"/>
                <a:cs typeface="Calibri" pitchFamily="34" charset="-120"/>
              </a:rPr>
              <a:t>Département Conception et Amélioration</a:t>
            </a:r>
            <a:endParaRPr lang="en-US" sz="1600" dirty="0"/>
          </a:p>
        </p:txBody>
      </p:sp>
      <p:sp>
        <p:nvSpPr>
          <p:cNvPr id="4" name="Shape 2"/>
          <p:cNvSpPr/>
          <p:nvPr/>
        </p:nvSpPr>
        <p:spPr>
          <a:xfrm>
            <a:off x="6949440" y="1554480"/>
            <a:ext cx="4663440" cy="4023360"/>
          </a:xfrm>
          <a:prstGeom prst="rect">
            <a:avLst/>
          </a:prstGeom>
          <a:solidFill>
            <a:srgbClr val="DCE6F1"/>
          </a:solidFill>
          <a:ln/>
        </p:spPr>
      </p:sp>
      <p:sp>
        <p:nvSpPr>
          <p:cNvPr id="5" name="Text 3"/>
          <p:cNvSpPr/>
          <p:nvPr/>
        </p:nvSpPr>
        <p:spPr>
          <a:xfrm>
            <a:off x="7223760" y="1737360"/>
            <a:ext cx="4114800" cy="365760"/>
          </a:xfrm>
          <a:prstGeom prst="rect">
            <a:avLst/>
          </a:prstGeom>
          <a:noFill/>
          <a:ln/>
        </p:spPr>
        <p:txBody>
          <a:bodyPr wrap="square"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Pourquoi ce stage ?</a:t>
            </a:r>
            <a:endParaRPr lang="en-US" sz="1500" dirty="0"/>
          </a:p>
        </p:txBody>
      </p:sp>
      <p:sp>
        <p:nvSpPr>
          <p:cNvPr id="6" name="Text 4"/>
          <p:cNvSpPr/>
          <p:nvPr/>
        </p:nvSpPr>
        <p:spPr>
          <a:xfrm>
            <a:off x="7223760" y="2194560"/>
            <a:ext cx="4114800" cy="3200400"/>
          </a:xfrm>
          <a:prstGeom prst="rect">
            <a:avLst/>
          </a:prstGeom>
          <a:noFill/>
          <a:ln/>
        </p:spPr>
        <p:txBody>
          <a:bodyPr wrap="square" rtlCol="0" anchor="ctr"/>
          <a:lstStyle/>
          <a:p>
            <a:pPr indent="0" marL="0">
              <a:lnSpc>
                <a:spcPct val="130000"/>
              </a:lnSpc>
              <a:buNone/>
            </a:pPr>
            <a:r>
              <a:rPr lang="en-US" sz="1400" dirty="0">
                <a:solidFill>
                  <a:srgbClr val="404040"/>
                </a:solidFill>
                <a:latin typeface="Calibri" pitchFamily="34" charset="0"/>
                <a:ea typeface="Calibri" pitchFamily="34" charset="-122"/>
                <a:cs typeface="Calibri" pitchFamily="34" charset="-120"/>
              </a:rPr>
              <a:t>Le stage en entreprise confronte les connaissances théoriques de la formation BTS à la réalité industrielle, et permet la découverte d'un outil de CAO professionnel utilisé quotidiennement dans un bureau d'études automobile.</a:t>
            </a:r>
            <a:endParaRPr lang="en-US" sz="1400" dirty="0"/>
          </a:p>
        </p:txBody>
      </p:sp>
      <p:sp>
        <p:nvSpPr>
          <p:cNvPr id="7" name="Text 5"/>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8" name="Text 6"/>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Présentation de l'entreprise d'accueil</a:t>
            </a:r>
            <a:endParaRPr lang="en-US" sz="3000" dirty="0"/>
          </a:p>
        </p:txBody>
      </p:sp>
      <p:sp>
        <p:nvSpPr>
          <p:cNvPr id="3" name="Text 1"/>
          <p:cNvSpPr/>
          <p:nvPr/>
        </p:nvSpPr>
        <p:spPr>
          <a:xfrm>
            <a:off x="548640" y="960120"/>
            <a:ext cx="11091672" cy="365760"/>
          </a:xfrm>
          <a:prstGeom prst="rect">
            <a:avLst/>
          </a:prstGeom>
          <a:noFill/>
          <a:ln/>
        </p:spPr>
        <p:txBody>
          <a:bodyPr wrap="square" rtlCol="0" anchor="ctr"/>
          <a:lstStyle/>
          <a:p>
            <a:pPr indent="0" marL="0">
              <a:buNone/>
            </a:pPr>
            <a:r>
              <a:rPr lang="en-US" sz="1500" i="1" dirty="0">
                <a:solidFill>
                  <a:srgbClr val="2E5395"/>
                </a:solidFill>
                <a:latin typeface="Calibri" pitchFamily="34" charset="0"/>
                <a:ea typeface="Calibri" pitchFamily="34" charset="-122"/>
                <a:cs typeface="Calibri" pitchFamily="34" charset="-120"/>
              </a:rPr>
              <a:t>Polydesign Systems</a:t>
            </a:r>
            <a:endParaRPr lang="en-US" sz="1500" dirty="0"/>
          </a:p>
        </p:txBody>
      </p:sp>
      <p:pic>
        <p:nvPicPr>
          <p:cNvPr id="4" name="Image 0" descr="/home/claude/extract/pieces/photo_polydesign.jpeg">    </p:cNvPr>
          <p:cNvPicPr>
            <a:picLocks noChangeAspect="1"/>
          </p:cNvPicPr>
          <p:nvPr/>
        </p:nvPicPr>
        <p:blipFill>
          <a:blip r:embed="rId1"/>
          <a:stretch>
            <a:fillRect/>
          </a:stretch>
        </p:blipFill>
        <p:spPr>
          <a:xfrm>
            <a:off x="548640" y="1645920"/>
            <a:ext cx="5120640" cy="2523744"/>
          </a:xfrm>
          <a:prstGeom prst="rect">
            <a:avLst/>
          </a:prstGeom>
        </p:spPr>
      </p:pic>
      <p:sp>
        <p:nvSpPr>
          <p:cNvPr id="5" name="Text 2"/>
          <p:cNvSpPr/>
          <p:nvPr/>
        </p:nvSpPr>
        <p:spPr>
          <a:xfrm>
            <a:off x="548640" y="4343400"/>
            <a:ext cx="5120640" cy="1463040"/>
          </a:xfrm>
          <a:prstGeom prst="rect">
            <a:avLst/>
          </a:prstGeom>
          <a:noFill/>
          <a:ln/>
        </p:spPr>
        <p:txBody>
          <a:bodyPr wrap="square" rtlCol="0" anchor="ctr"/>
          <a:lstStyle/>
          <a:p>
            <a:pPr indent="0" marL="0">
              <a:lnSpc>
                <a:spcPct val="130000"/>
              </a:lnSpc>
              <a:buNone/>
            </a:pPr>
            <a:r>
              <a:rPr lang="en-US" sz="1350" dirty="0">
                <a:solidFill>
                  <a:srgbClr val="404040"/>
                </a:solidFill>
                <a:latin typeface="Calibri" pitchFamily="34" charset="0"/>
                <a:ea typeface="Calibri" pitchFamily="34" charset="-122"/>
                <a:cs typeface="Calibri" pitchFamily="34" charset="-120"/>
              </a:rPr>
              <a:t>Filiale marocaine du groupe canadien EXCO Technologies Limited, Polydesign Systems est spécialisée dans la fabrication de garnitures automobiles (textile, cuir, plastique) pour les produits d'intérieur des véhicules.</a:t>
            </a:r>
            <a:endParaRPr lang="en-US" sz="1350" dirty="0"/>
          </a:p>
        </p:txBody>
      </p:sp>
      <p:sp>
        <p:nvSpPr>
          <p:cNvPr id="6" name="Shape 3"/>
          <p:cNvSpPr/>
          <p:nvPr/>
        </p:nvSpPr>
        <p:spPr>
          <a:xfrm>
            <a:off x="6035040" y="1645920"/>
            <a:ext cx="5577840" cy="566928"/>
          </a:xfrm>
          <a:prstGeom prst="rect">
            <a:avLst/>
          </a:prstGeom>
          <a:solidFill>
            <a:srgbClr val="DCE6F1"/>
          </a:solidFill>
          <a:ln/>
        </p:spPr>
      </p:sp>
      <p:sp>
        <p:nvSpPr>
          <p:cNvPr id="7" name="Text 4"/>
          <p:cNvSpPr/>
          <p:nvPr/>
        </p:nvSpPr>
        <p:spPr>
          <a:xfrm>
            <a:off x="6172200" y="1645920"/>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Création</a:t>
            </a:r>
            <a:endParaRPr lang="en-US" sz="1300" dirty="0"/>
          </a:p>
        </p:txBody>
      </p:sp>
      <p:sp>
        <p:nvSpPr>
          <p:cNvPr id="8" name="Text 5"/>
          <p:cNvSpPr/>
          <p:nvPr/>
        </p:nvSpPr>
        <p:spPr>
          <a:xfrm>
            <a:off x="8046720" y="1645920"/>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Septembre 2001</a:t>
            </a:r>
            <a:endParaRPr lang="en-US" sz="1300" dirty="0"/>
          </a:p>
        </p:txBody>
      </p:sp>
      <p:sp>
        <p:nvSpPr>
          <p:cNvPr id="9" name="Shape 6"/>
          <p:cNvSpPr/>
          <p:nvPr/>
        </p:nvSpPr>
        <p:spPr>
          <a:xfrm>
            <a:off x="6035040" y="2267712"/>
            <a:ext cx="5577840" cy="566928"/>
          </a:xfrm>
          <a:prstGeom prst="rect">
            <a:avLst/>
          </a:prstGeom>
          <a:solidFill>
            <a:srgbClr val="EFF3FA"/>
          </a:solidFill>
          <a:ln/>
        </p:spPr>
      </p:sp>
      <p:sp>
        <p:nvSpPr>
          <p:cNvPr id="10" name="Text 7"/>
          <p:cNvSpPr/>
          <p:nvPr/>
        </p:nvSpPr>
        <p:spPr>
          <a:xfrm>
            <a:off x="6172200" y="2267712"/>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Statut</a:t>
            </a:r>
            <a:endParaRPr lang="en-US" sz="1300" dirty="0"/>
          </a:p>
        </p:txBody>
      </p:sp>
      <p:sp>
        <p:nvSpPr>
          <p:cNvPr id="11" name="Text 8"/>
          <p:cNvSpPr/>
          <p:nvPr/>
        </p:nvSpPr>
        <p:spPr>
          <a:xfrm>
            <a:off x="8046720" y="2267712"/>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S.A.R.L.</a:t>
            </a:r>
            <a:endParaRPr lang="en-US" sz="1300" dirty="0"/>
          </a:p>
        </p:txBody>
      </p:sp>
      <p:sp>
        <p:nvSpPr>
          <p:cNvPr id="12" name="Shape 9"/>
          <p:cNvSpPr/>
          <p:nvPr/>
        </p:nvSpPr>
        <p:spPr>
          <a:xfrm>
            <a:off x="6035040" y="2889504"/>
            <a:ext cx="5577840" cy="566928"/>
          </a:xfrm>
          <a:prstGeom prst="rect">
            <a:avLst/>
          </a:prstGeom>
          <a:solidFill>
            <a:srgbClr val="EFF3FA"/>
          </a:solidFill>
          <a:ln/>
        </p:spPr>
      </p:sp>
      <p:sp>
        <p:nvSpPr>
          <p:cNvPr id="13" name="Text 10"/>
          <p:cNvSpPr/>
          <p:nvPr/>
        </p:nvSpPr>
        <p:spPr>
          <a:xfrm>
            <a:off x="6172200" y="2889504"/>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Certifications</a:t>
            </a:r>
            <a:endParaRPr lang="en-US" sz="1300" dirty="0"/>
          </a:p>
        </p:txBody>
      </p:sp>
      <p:sp>
        <p:nvSpPr>
          <p:cNvPr id="14" name="Text 11"/>
          <p:cNvSpPr/>
          <p:nvPr/>
        </p:nvSpPr>
        <p:spPr>
          <a:xfrm>
            <a:off x="8046720" y="2889504"/>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ISO/TS 16949, ISO 14001</a:t>
            </a:r>
            <a:endParaRPr lang="en-US" sz="1300" dirty="0"/>
          </a:p>
        </p:txBody>
      </p:sp>
      <p:sp>
        <p:nvSpPr>
          <p:cNvPr id="15" name="Shape 12"/>
          <p:cNvSpPr/>
          <p:nvPr/>
        </p:nvSpPr>
        <p:spPr>
          <a:xfrm>
            <a:off x="6035040" y="3511296"/>
            <a:ext cx="5577840" cy="566928"/>
          </a:xfrm>
          <a:prstGeom prst="rect">
            <a:avLst/>
          </a:prstGeom>
          <a:solidFill>
            <a:srgbClr val="EFF3FA"/>
          </a:solidFill>
          <a:ln/>
        </p:spPr>
      </p:sp>
      <p:sp>
        <p:nvSpPr>
          <p:cNvPr id="16" name="Text 13"/>
          <p:cNvSpPr/>
          <p:nvPr/>
        </p:nvSpPr>
        <p:spPr>
          <a:xfrm>
            <a:off x="6172200" y="3511296"/>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Effectif</a:t>
            </a:r>
            <a:endParaRPr lang="en-US" sz="1300" dirty="0"/>
          </a:p>
        </p:txBody>
      </p:sp>
      <p:sp>
        <p:nvSpPr>
          <p:cNvPr id="17" name="Text 14"/>
          <p:cNvSpPr/>
          <p:nvPr/>
        </p:nvSpPr>
        <p:spPr>
          <a:xfrm>
            <a:off x="8046720" y="3511296"/>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700 personnes</a:t>
            </a:r>
            <a:endParaRPr lang="en-US" sz="1300" dirty="0"/>
          </a:p>
        </p:txBody>
      </p:sp>
      <p:sp>
        <p:nvSpPr>
          <p:cNvPr id="18" name="Shape 15"/>
          <p:cNvSpPr/>
          <p:nvPr/>
        </p:nvSpPr>
        <p:spPr>
          <a:xfrm>
            <a:off x="6035040" y="4133088"/>
            <a:ext cx="5577840" cy="566928"/>
          </a:xfrm>
          <a:prstGeom prst="rect">
            <a:avLst/>
          </a:prstGeom>
          <a:solidFill>
            <a:srgbClr val="EFF3FA"/>
          </a:solidFill>
          <a:ln/>
        </p:spPr>
      </p:sp>
      <p:sp>
        <p:nvSpPr>
          <p:cNvPr id="19" name="Text 16"/>
          <p:cNvSpPr/>
          <p:nvPr/>
        </p:nvSpPr>
        <p:spPr>
          <a:xfrm>
            <a:off x="6172200" y="4133088"/>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Superficie</a:t>
            </a:r>
            <a:endParaRPr lang="en-US" sz="1300" dirty="0"/>
          </a:p>
        </p:txBody>
      </p:sp>
      <p:sp>
        <p:nvSpPr>
          <p:cNvPr id="20" name="Text 17"/>
          <p:cNvSpPr/>
          <p:nvPr/>
        </p:nvSpPr>
        <p:spPr>
          <a:xfrm>
            <a:off x="8046720" y="4133088"/>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18 000 m² couverts</a:t>
            </a:r>
            <a:endParaRPr lang="en-US" sz="1300" dirty="0"/>
          </a:p>
        </p:txBody>
      </p:sp>
      <p:sp>
        <p:nvSpPr>
          <p:cNvPr id="21" name="Shape 18"/>
          <p:cNvSpPr/>
          <p:nvPr/>
        </p:nvSpPr>
        <p:spPr>
          <a:xfrm>
            <a:off x="6035040" y="4754880"/>
            <a:ext cx="5577840" cy="566928"/>
          </a:xfrm>
          <a:prstGeom prst="rect">
            <a:avLst/>
          </a:prstGeom>
          <a:solidFill>
            <a:srgbClr val="EFF3FA"/>
          </a:solidFill>
          <a:ln/>
        </p:spPr>
      </p:sp>
      <p:sp>
        <p:nvSpPr>
          <p:cNvPr id="22" name="Text 19"/>
          <p:cNvSpPr/>
          <p:nvPr/>
        </p:nvSpPr>
        <p:spPr>
          <a:xfrm>
            <a:off x="6172200" y="4754880"/>
            <a:ext cx="1828800" cy="566928"/>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Distinction</a:t>
            </a:r>
            <a:endParaRPr lang="en-US" sz="1300" dirty="0"/>
          </a:p>
        </p:txBody>
      </p:sp>
      <p:sp>
        <p:nvSpPr>
          <p:cNvPr id="23" name="Text 20"/>
          <p:cNvSpPr/>
          <p:nvPr/>
        </p:nvSpPr>
        <p:spPr>
          <a:xfrm>
            <a:off x="8046720" y="4754880"/>
            <a:ext cx="3474720" cy="566928"/>
          </a:xfrm>
          <a:prstGeom prst="rect">
            <a:avLst/>
          </a:prstGeom>
          <a:noFill/>
          <a:ln/>
        </p:spPr>
        <p:txBody>
          <a:bodyPr wrap="square" rtlCol="0" anchor="ctr"/>
          <a:lstStyle/>
          <a:p>
            <a:pPr indent="0" marL="0">
              <a:buNone/>
            </a:pPr>
            <a:r>
              <a:rPr lang="en-US" sz="1300" dirty="0">
                <a:solidFill>
                  <a:srgbClr val="262626"/>
                </a:solidFill>
                <a:latin typeface="Calibri" pitchFamily="34" charset="0"/>
                <a:ea typeface="Calibri" pitchFamily="34" charset="-122"/>
                <a:cs typeface="Calibri" pitchFamily="34" charset="-120"/>
              </a:rPr>
              <a:t>1ère entreprise africaine certifiée Q1 Ford</a:t>
            </a:r>
            <a:endParaRPr lang="en-US" sz="1300" dirty="0"/>
          </a:p>
        </p:txBody>
      </p:sp>
      <p:sp>
        <p:nvSpPr>
          <p:cNvPr id="24" name="Text 21"/>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5" name="Text 22"/>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Problématique et objectifs</a:t>
            </a:r>
            <a:endParaRPr lang="en-US" sz="3000" dirty="0"/>
          </a:p>
        </p:txBody>
      </p:sp>
      <p:sp>
        <p:nvSpPr>
          <p:cNvPr id="3" name="Shape 1"/>
          <p:cNvSpPr/>
          <p:nvPr/>
        </p:nvSpPr>
        <p:spPr>
          <a:xfrm>
            <a:off x="548640" y="1508760"/>
            <a:ext cx="11064240" cy="960120"/>
          </a:xfrm>
          <a:prstGeom prst="rect">
            <a:avLst/>
          </a:prstGeom>
          <a:solidFill>
            <a:srgbClr val="1F3864"/>
          </a:solidFill>
          <a:ln/>
        </p:spPr>
      </p:sp>
      <p:sp>
        <p:nvSpPr>
          <p:cNvPr id="4" name="Text 2"/>
          <p:cNvSpPr/>
          <p:nvPr/>
        </p:nvSpPr>
        <p:spPr>
          <a:xfrm>
            <a:off x="822960" y="1600200"/>
            <a:ext cx="10515600" cy="82296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Comment s'approprier, sur une période limitée et dans un contexte professionnel réel, les fonctionnalités essentielles d'un logiciel de CAO industriel afin de modéliser des pièces mécaniques conformes aux exigences d'un bureau d'études ?</a:t>
            </a:r>
            <a:endParaRPr lang="en-US" sz="1500" dirty="0"/>
          </a:p>
        </p:txBody>
      </p:sp>
      <p:sp>
        <p:nvSpPr>
          <p:cNvPr id="5" name="Shape 3"/>
          <p:cNvSpPr/>
          <p:nvPr/>
        </p:nvSpPr>
        <p:spPr>
          <a:xfrm>
            <a:off x="640080" y="2862072"/>
            <a:ext cx="146304" cy="146304"/>
          </a:xfrm>
          <a:prstGeom prst="ellipse">
            <a:avLst/>
          </a:prstGeom>
          <a:solidFill>
            <a:srgbClr val="2E5395"/>
          </a:solidFill>
          <a:ln/>
        </p:spPr>
      </p:sp>
      <p:sp>
        <p:nvSpPr>
          <p:cNvPr id="6" name="Text 4"/>
          <p:cNvSpPr/>
          <p:nvPr/>
        </p:nvSpPr>
        <p:spPr>
          <a:xfrm>
            <a:off x="960120" y="2788920"/>
            <a:ext cx="10607040" cy="502920"/>
          </a:xfrm>
          <a:prstGeom prst="rect">
            <a:avLst/>
          </a:prstGeom>
          <a:noFill/>
          <a:ln/>
        </p:spPr>
        <p:txBody>
          <a:bodyPr wrap="square" rtlCol="0" anchor="ctr"/>
          <a:lstStyle/>
          <a:p>
            <a:pPr indent="0" marL="0">
              <a:buNone/>
            </a:pPr>
            <a:r>
              <a:rPr lang="en-US" sz="1500" dirty="0">
                <a:solidFill>
                  <a:srgbClr val="262626"/>
                </a:solidFill>
                <a:latin typeface="Calibri" pitchFamily="34" charset="0"/>
                <a:ea typeface="Calibri" pitchFamily="34" charset="-122"/>
                <a:cs typeface="Calibri" pitchFamily="34" charset="-120"/>
              </a:rPr>
              <a:t>Découvrir l'environnement d'une entreprise industrielle automobile</a:t>
            </a:r>
            <a:endParaRPr lang="en-US" sz="1500" dirty="0"/>
          </a:p>
        </p:txBody>
      </p:sp>
      <p:sp>
        <p:nvSpPr>
          <p:cNvPr id="7" name="Shape 5"/>
          <p:cNvSpPr/>
          <p:nvPr/>
        </p:nvSpPr>
        <p:spPr>
          <a:xfrm>
            <a:off x="640080" y="3429000"/>
            <a:ext cx="146304" cy="146304"/>
          </a:xfrm>
          <a:prstGeom prst="ellipse">
            <a:avLst/>
          </a:prstGeom>
          <a:solidFill>
            <a:srgbClr val="2E5395"/>
          </a:solidFill>
          <a:ln/>
        </p:spPr>
      </p:sp>
      <p:sp>
        <p:nvSpPr>
          <p:cNvPr id="8" name="Text 6"/>
          <p:cNvSpPr/>
          <p:nvPr/>
        </p:nvSpPr>
        <p:spPr>
          <a:xfrm>
            <a:off x="960120" y="3355848"/>
            <a:ext cx="10607040" cy="502920"/>
          </a:xfrm>
          <a:prstGeom prst="rect">
            <a:avLst/>
          </a:prstGeom>
          <a:noFill/>
          <a:ln/>
        </p:spPr>
        <p:txBody>
          <a:bodyPr wrap="square" rtlCol="0" anchor="ctr"/>
          <a:lstStyle/>
          <a:p>
            <a:pPr indent="0" marL="0">
              <a:buNone/>
            </a:pPr>
            <a:r>
              <a:rPr lang="en-US" sz="1500" dirty="0">
                <a:solidFill>
                  <a:srgbClr val="262626"/>
                </a:solidFill>
                <a:latin typeface="Calibri" pitchFamily="34" charset="0"/>
                <a:ea typeface="Calibri" pitchFamily="34" charset="-122"/>
                <a:cs typeface="Calibri" pitchFamily="34" charset="-120"/>
              </a:rPr>
              <a:t>Se familiariser avec l'interface et les fonctionnalités de CATIA V5</a:t>
            </a:r>
            <a:endParaRPr lang="en-US" sz="1500" dirty="0"/>
          </a:p>
        </p:txBody>
      </p:sp>
      <p:sp>
        <p:nvSpPr>
          <p:cNvPr id="9" name="Shape 7"/>
          <p:cNvSpPr/>
          <p:nvPr/>
        </p:nvSpPr>
        <p:spPr>
          <a:xfrm>
            <a:off x="640080" y="3995928"/>
            <a:ext cx="146304" cy="146304"/>
          </a:xfrm>
          <a:prstGeom prst="ellipse">
            <a:avLst/>
          </a:prstGeom>
          <a:solidFill>
            <a:srgbClr val="2E5395"/>
          </a:solidFill>
          <a:ln/>
        </p:spPr>
      </p:sp>
      <p:sp>
        <p:nvSpPr>
          <p:cNvPr id="10" name="Text 8"/>
          <p:cNvSpPr/>
          <p:nvPr/>
        </p:nvSpPr>
        <p:spPr>
          <a:xfrm>
            <a:off x="960120" y="3922776"/>
            <a:ext cx="10607040" cy="502920"/>
          </a:xfrm>
          <a:prstGeom prst="rect">
            <a:avLst/>
          </a:prstGeom>
          <a:noFill/>
          <a:ln/>
        </p:spPr>
        <p:txBody>
          <a:bodyPr wrap="square" rtlCol="0" anchor="ctr"/>
          <a:lstStyle/>
          <a:p>
            <a:pPr indent="0" marL="0">
              <a:buNone/>
            </a:pPr>
            <a:r>
              <a:rPr lang="en-US" sz="1500" dirty="0">
                <a:solidFill>
                  <a:srgbClr val="262626"/>
                </a:solidFill>
                <a:latin typeface="Calibri" pitchFamily="34" charset="0"/>
                <a:ea typeface="Calibri" pitchFamily="34" charset="-122"/>
                <a:cs typeface="Calibri" pitchFamily="34" charset="-120"/>
              </a:rPr>
              <a:t>Acquérir une méthodologie de modélisation de pièces 3D</a:t>
            </a:r>
            <a:endParaRPr lang="en-US" sz="1500" dirty="0"/>
          </a:p>
        </p:txBody>
      </p:sp>
      <p:sp>
        <p:nvSpPr>
          <p:cNvPr id="11" name="Shape 9"/>
          <p:cNvSpPr/>
          <p:nvPr/>
        </p:nvSpPr>
        <p:spPr>
          <a:xfrm>
            <a:off x="640080" y="4562856"/>
            <a:ext cx="146304" cy="146304"/>
          </a:xfrm>
          <a:prstGeom prst="ellipse">
            <a:avLst/>
          </a:prstGeom>
          <a:solidFill>
            <a:srgbClr val="2E5395"/>
          </a:solidFill>
          <a:ln/>
        </p:spPr>
      </p:sp>
      <p:sp>
        <p:nvSpPr>
          <p:cNvPr id="12" name="Text 10"/>
          <p:cNvSpPr/>
          <p:nvPr/>
        </p:nvSpPr>
        <p:spPr>
          <a:xfrm>
            <a:off x="960120" y="4489704"/>
            <a:ext cx="10607040" cy="502920"/>
          </a:xfrm>
          <a:prstGeom prst="rect">
            <a:avLst/>
          </a:prstGeom>
          <a:noFill/>
          <a:ln/>
        </p:spPr>
        <p:txBody>
          <a:bodyPr wrap="square" rtlCol="0" anchor="ctr"/>
          <a:lstStyle/>
          <a:p>
            <a:pPr indent="0" marL="0">
              <a:buNone/>
            </a:pPr>
            <a:r>
              <a:rPr lang="en-US" sz="1500" dirty="0">
                <a:solidFill>
                  <a:srgbClr val="262626"/>
                </a:solidFill>
                <a:latin typeface="Calibri" pitchFamily="34" charset="0"/>
                <a:ea typeface="Calibri" pitchFamily="34" charset="-122"/>
                <a:cs typeface="Calibri" pitchFamily="34" charset="-120"/>
              </a:rPr>
              <a:t>Mettre en application ces compétences sur des pièces concrètes</a:t>
            </a:r>
            <a:endParaRPr lang="en-US" sz="1500" dirty="0"/>
          </a:p>
        </p:txBody>
      </p:sp>
      <p:sp>
        <p:nvSpPr>
          <p:cNvPr id="13" name="Shape 11"/>
          <p:cNvSpPr/>
          <p:nvPr/>
        </p:nvSpPr>
        <p:spPr>
          <a:xfrm>
            <a:off x="640080" y="5129784"/>
            <a:ext cx="146304" cy="146304"/>
          </a:xfrm>
          <a:prstGeom prst="ellipse">
            <a:avLst/>
          </a:prstGeom>
          <a:solidFill>
            <a:srgbClr val="2E5395"/>
          </a:solidFill>
          <a:ln/>
        </p:spPr>
      </p:sp>
      <p:sp>
        <p:nvSpPr>
          <p:cNvPr id="14" name="Text 12"/>
          <p:cNvSpPr/>
          <p:nvPr/>
        </p:nvSpPr>
        <p:spPr>
          <a:xfrm>
            <a:off x="960120" y="5056632"/>
            <a:ext cx="10607040" cy="502920"/>
          </a:xfrm>
          <a:prstGeom prst="rect">
            <a:avLst/>
          </a:prstGeom>
          <a:noFill/>
          <a:ln/>
        </p:spPr>
        <p:txBody>
          <a:bodyPr wrap="square" rtlCol="0" anchor="ctr"/>
          <a:lstStyle/>
          <a:p>
            <a:pPr indent="0" marL="0">
              <a:buNone/>
            </a:pPr>
            <a:r>
              <a:rPr lang="en-US" sz="1500" dirty="0">
                <a:solidFill>
                  <a:srgbClr val="262626"/>
                </a:solidFill>
                <a:latin typeface="Calibri" pitchFamily="34" charset="0"/>
                <a:ea typeface="Calibri" pitchFamily="34" charset="-122"/>
                <a:cs typeface="Calibri" pitchFamily="34" charset="-120"/>
              </a:rPr>
              <a:t>Développer autonomie, rigueur technique et sens du travail en équipe</a:t>
            </a:r>
            <a:endParaRPr lang="en-US" sz="1500" dirty="0"/>
          </a:p>
        </p:txBody>
      </p:sp>
      <p:sp>
        <p:nvSpPr>
          <p:cNvPr id="15" name="Text 13"/>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6" name="Text 14"/>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Méthodologie adoptée</a:t>
            </a:r>
            <a:endParaRPr lang="en-US" sz="3000" dirty="0"/>
          </a:p>
        </p:txBody>
      </p:sp>
      <p:sp>
        <p:nvSpPr>
          <p:cNvPr id="3" name="Shape 1"/>
          <p:cNvSpPr/>
          <p:nvPr/>
        </p:nvSpPr>
        <p:spPr>
          <a:xfrm>
            <a:off x="548640" y="1828800"/>
            <a:ext cx="2606040" cy="3291840"/>
          </a:xfrm>
          <a:prstGeom prst="rect">
            <a:avLst/>
          </a:prstGeom>
          <a:solidFill>
            <a:srgbClr val="DCE6F1"/>
          </a:solidFill>
          <a:ln/>
        </p:spPr>
      </p:sp>
      <p:sp>
        <p:nvSpPr>
          <p:cNvPr id="4" name="Text 2"/>
          <p:cNvSpPr/>
          <p:nvPr/>
        </p:nvSpPr>
        <p:spPr>
          <a:xfrm>
            <a:off x="548640" y="1965960"/>
            <a:ext cx="2606040" cy="640080"/>
          </a:xfrm>
          <a:prstGeom prst="rect">
            <a:avLst/>
          </a:prstGeom>
          <a:noFill/>
          <a:ln/>
        </p:spPr>
        <p:txBody>
          <a:bodyPr wrap="square" rtlCol="0" anchor="ctr"/>
          <a:lstStyle/>
          <a:p>
            <a:pPr algn="ctr" indent="0" marL="0">
              <a:buNone/>
            </a:pPr>
            <a:r>
              <a:rPr lang="en-US" sz="3000" b="1" dirty="0">
                <a:solidFill>
                  <a:srgbClr val="2E5395"/>
                </a:solidFill>
                <a:latin typeface="Calibri" pitchFamily="34" charset="0"/>
                <a:ea typeface="Calibri" pitchFamily="34" charset="-122"/>
                <a:cs typeface="Calibri" pitchFamily="34" charset="-120"/>
              </a:rPr>
              <a:t>1</a:t>
            </a:r>
            <a:endParaRPr lang="en-US" sz="3000" dirty="0"/>
          </a:p>
        </p:txBody>
      </p:sp>
      <p:sp>
        <p:nvSpPr>
          <p:cNvPr id="5" name="Text 3"/>
          <p:cNvSpPr/>
          <p:nvPr/>
        </p:nvSpPr>
        <p:spPr>
          <a:xfrm>
            <a:off x="685800" y="2651760"/>
            <a:ext cx="2331720" cy="548640"/>
          </a:xfrm>
          <a:prstGeom prst="rect">
            <a:avLst/>
          </a:prstGeom>
          <a:noFill/>
          <a:ln/>
        </p:spPr>
        <p:txBody>
          <a:bodyPr wrap="square"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Observation</a:t>
            </a:r>
            <a:endParaRPr lang="en-US" sz="1500" dirty="0"/>
          </a:p>
        </p:txBody>
      </p:sp>
      <p:sp>
        <p:nvSpPr>
          <p:cNvPr id="6" name="Text 4"/>
          <p:cNvSpPr/>
          <p:nvPr/>
        </p:nvSpPr>
        <p:spPr>
          <a:xfrm>
            <a:off x="685800" y="3246120"/>
            <a:ext cx="2331720" cy="1737360"/>
          </a:xfrm>
          <a:prstGeom prst="rect">
            <a:avLst/>
          </a:prstGeom>
          <a:noFill/>
          <a:ln/>
        </p:spPr>
        <p:txBody>
          <a:bodyPr wrap="square" rtlCol="0" anchor="ctr"/>
          <a:lstStyle/>
          <a:p>
            <a:pPr algn="ctr" indent="0" marL="0">
              <a:lnSpc>
                <a:spcPct val="125000"/>
              </a:lnSpc>
              <a:buNone/>
            </a:pPr>
            <a:r>
              <a:rPr lang="en-US" sz="1250" dirty="0">
                <a:solidFill>
                  <a:srgbClr val="404040"/>
                </a:solidFill>
                <a:latin typeface="Calibri" pitchFamily="34" charset="0"/>
                <a:ea typeface="Calibri" pitchFamily="34" charset="-122"/>
                <a:cs typeface="Calibri" pitchFamily="34" charset="-120"/>
              </a:rPr>
              <a:t>Découverte de l'entreprise et du fonctionnement du bureau d'études</a:t>
            </a:r>
            <a:endParaRPr lang="en-US" sz="1250" dirty="0"/>
          </a:p>
        </p:txBody>
      </p:sp>
      <p:sp>
        <p:nvSpPr>
          <p:cNvPr id="7" name="Shape 5"/>
          <p:cNvSpPr/>
          <p:nvPr/>
        </p:nvSpPr>
        <p:spPr>
          <a:xfrm>
            <a:off x="3355848" y="1828800"/>
            <a:ext cx="2606040" cy="3291840"/>
          </a:xfrm>
          <a:prstGeom prst="rect">
            <a:avLst/>
          </a:prstGeom>
          <a:solidFill>
            <a:srgbClr val="EFF3FA"/>
          </a:solidFill>
          <a:ln/>
        </p:spPr>
      </p:sp>
      <p:sp>
        <p:nvSpPr>
          <p:cNvPr id="8" name="Text 6"/>
          <p:cNvSpPr/>
          <p:nvPr/>
        </p:nvSpPr>
        <p:spPr>
          <a:xfrm>
            <a:off x="3355848" y="1965960"/>
            <a:ext cx="2606040" cy="640080"/>
          </a:xfrm>
          <a:prstGeom prst="rect">
            <a:avLst/>
          </a:prstGeom>
          <a:noFill/>
          <a:ln/>
        </p:spPr>
        <p:txBody>
          <a:bodyPr wrap="square" rtlCol="0" anchor="ctr"/>
          <a:lstStyle/>
          <a:p>
            <a:pPr algn="ctr" indent="0" marL="0">
              <a:buNone/>
            </a:pPr>
            <a:r>
              <a:rPr lang="en-US" sz="3000" b="1" dirty="0">
                <a:solidFill>
                  <a:srgbClr val="2E5395"/>
                </a:solidFill>
                <a:latin typeface="Calibri" pitchFamily="34" charset="0"/>
                <a:ea typeface="Calibri" pitchFamily="34" charset="-122"/>
                <a:cs typeface="Calibri" pitchFamily="34" charset="-120"/>
              </a:rPr>
              <a:t>2</a:t>
            </a:r>
            <a:endParaRPr lang="en-US" sz="3000" dirty="0"/>
          </a:p>
        </p:txBody>
      </p:sp>
      <p:sp>
        <p:nvSpPr>
          <p:cNvPr id="9" name="Text 7"/>
          <p:cNvSpPr/>
          <p:nvPr/>
        </p:nvSpPr>
        <p:spPr>
          <a:xfrm>
            <a:off x="3493008" y="2651760"/>
            <a:ext cx="2331720" cy="548640"/>
          </a:xfrm>
          <a:prstGeom prst="rect">
            <a:avLst/>
          </a:prstGeom>
          <a:noFill/>
          <a:ln/>
        </p:spPr>
        <p:txBody>
          <a:bodyPr wrap="square"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Apprentissage progressif</a:t>
            </a:r>
            <a:endParaRPr lang="en-US" sz="1500" dirty="0"/>
          </a:p>
        </p:txBody>
      </p:sp>
      <p:sp>
        <p:nvSpPr>
          <p:cNvPr id="10" name="Text 8"/>
          <p:cNvSpPr/>
          <p:nvPr/>
        </p:nvSpPr>
        <p:spPr>
          <a:xfrm>
            <a:off x="3493008" y="3246120"/>
            <a:ext cx="2331720" cy="1737360"/>
          </a:xfrm>
          <a:prstGeom prst="rect">
            <a:avLst/>
          </a:prstGeom>
          <a:noFill/>
          <a:ln/>
        </p:spPr>
        <p:txBody>
          <a:bodyPr wrap="square" rtlCol="0" anchor="ctr"/>
          <a:lstStyle/>
          <a:p>
            <a:pPr algn="ctr" indent="0" marL="0">
              <a:lnSpc>
                <a:spcPct val="125000"/>
              </a:lnSpc>
              <a:buNone/>
            </a:pPr>
            <a:r>
              <a:rPr lang="en-US" sz="1250" dirty="0">
                <a:solidFill>
                  <a:srgbClr val="404040"/>
                </a:solidFill>
                <a:latin typeface="Calibri" pitchFamily="34" charset="0"/>
                <a:ea typeface="Calibri" pitchFamily="34" charset="-122"/>
                <a:cs typeface="Calibri" pitchFamily="34" charset="-120"/>
              </a:rPr>
              <a:t>Exploration encadrée des modules de CATIA V5 par complexité croissante</a:t>
            </a:r>
            <a:endParaRPr lang="en-US" sz="1250" dirty="0"/>
          </a:p>
        </p:txBody>
      </p:sp>
      <p:sp>
        <p:nvSpPr>
          <p:cNvPr id="11" name="Shape 9"/>
          <p:cNvSpPr/>
          <p:nvPr/>
        </p:nvSpPr>
        <p:spPr>
          <a:xfrm>
            <a:off x="6163056" y="1828800"/>
            <a:ext cx="2606040" cy="3291840"/>
          </a:xfrm>
          <a:prstGeom prst="rect">
            <a:avLst/>
          </a:prstGeom>
          <a:solidFill>
            <a:srgbClr val="DCE6F1"/>
          </a:solidFill>
          <a:ln/>
        </p:spPr>
      </p:sp>
      <p:sp>
        <p:nvSpPr>
          <p:cNvPr id="12" name="Text 10"/>
          <p:cNvSpPr/>
          <p:nvPr/>
        </p:nvSpPr>
        <p:spPr>
          <a:xfrm>
            <a:off x="6163056" y="1965960"/>
            <a:ext cx="2606040" cy="640080"/>
          </a:xfrm>
          <a:prstGeom prst="rect">
            <a:avLst/>
          </a:prstGeom>
          <a:noFill/>
          <a:ln/>
        </p:spPr>
        <p:txBody>
          <a:bodyPr wrap="square" rtlCol="0" anchor="ctr"/>
          <a:lstStyle/>
          <a:p>
            <a:pPr algn="ctr" indent="0" marL="0">
              <a:buNone/>
            </a:pPr>
            <a:r>
              <a:rPr lang="en-US" sz="3000" b="1" dirty="0">
                <a:solidFill>
                  <a:srgbClr val="2E5395"/>
                </a:solidFill>
                <a:latin typeface="Calibri" pitchFamily="34" charset="0"/>
                <a:ea typeface="Calibri" pitchFamily="34" charset="-122"/>
                <a:cs typeface="Calibri" pitchFamily="34" charset="-120"/>
              </a:rPr>
              <a:t>3</a:t>
            </a:r>
            <a:endParaRPr lang="en-US" sz="3000" dirty="0"/>
          </a:p>
        </p:txBody>
      </p:sp>
      <p:sp>
        <p:nvSpPr>
          <p:cNvPr id="13" name="Text 11"/>
          <p:cNvSpPr/>
          <p:nvPr/>
        </p:nvSpPr>
        <p:spPr>
          <a:xfrm>
            <a:off x="6300216" y="2651760"/>
            <a:ext cx="2331720" cy="548640"/>
          </a:xfrm>
          <a:prstGeom prst="rect">
            <a:avLst/>
          </a:prstGeom>
          <a:noFill/>
          <a:ln/>
        </p:spPr>
        <p:txBody>
          <a:bodyPr wrap="square"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Application pratique</a:t>
            </a:r>
            <a:endParaRPr lang="en-US" sz="1500" dirty="0"/>
          </a:p>
        </p:txBody>
      </p:sp>
      <p:sp>
        <p:nvSpPr>
          <p:cNvPr id="14" name="Text 12"/>
          <p:cNvSpPr/>
          <p:nvPr/>
        </p:nvSpPr>
        <p:spPr>
          <a:xfrm>
            <a:off x="6300216" y="3246120"/>
            <a:ext cx="2331720" cy="1737360"/>
          </a:xfrm>
          <a:prstGeom prst="rect">
            <a:avLst/>
          </a:prstGeom>
          <a:noFill/>
          <a:ln/>
        </p:spPr>
        <p:txBody>
          <a:bodyPr wrap="square" rtlCol="0" anchor="ctr"/>
          <a:lstStyle/>
          <a:p>
            <a:pPr algn="ctr" indent="0" marL="0">
              <a:lnSpc>
                <a:spcPct val="125000"/>
              </a:lnSpc>
              <a:buNone/>
            </a:pPr>
            <a:r>
              <a:rPr lang="en-US" sz="1250" dirty="0">
                <a:solidFill>
                  <a:srgbClr val="404040"/>
                </a:solidFill>
                <a:latin typeface="Calibri" pitchFamily="34" charset="0"/>
                <a:ea typeface="Calibri" pitchFamily="34" charset="-122"/>
                <a:cs typeface="Calibri" pitchFamily="34" charset="-120"/>
              </a:rPr>
              <a:t>Modélisation de 10 pièces mécaniques représentatives</a:t>
            </a:r>
            <a:endParaRPr lang="en-US" sz="1250" dirty="0"/>
          </a:p>
        </p:txBody>
      </p:sp>
      <p:sp>
        <p:nvSpPr>
          <p:cNvPr id="15" name="Shape 13"/>
          <p:cNvSpPr/>
          <p:nvPr/>
        </p:nvSpPr>
        <p:spPr>
          <a:xfrm>
            <a:off x="8970264" y="1828800"/>
            <a:ext cx="2606040" cy="3291840"/>
          </a:xfrm>
          <a:prstGeom prst="rect">
            <a:avLst/>
          </a:prstGeom>
          <a:solidFill>
            <a:srgbClr val="EFF3FA"/>
          </a:solidFill>
          <a:ln/>
        </p:spPr>
      </p:sp>
      <p:sp>
        <p:nvSpPr>
          <p:cNvPr id="16" name="Text 14"/>
          <p:cNvSpPr/>
          <p:nvPr/>
        </p:nvSpPr>
        <p:spPr>
          <a:xfrm>
            <a:off x="8970264" y="1965960"/>
            <a:ext cx="2606040" cy="640080"/>
          </a:xfrm>
          <a:prstGeom prst="rect">
            <a:avLst/>
          </a:prstGeom>
          <a:noFill/>
          <a:ln/>
        </p:spPr>
        <p:txBody>
          <a:bodyPr wrap="square" rtlCol="0" anchor="ctr"/>
          <a:lstStyle/>
          <a:p>
            <a:pPr algn="ctr" indent="0" marL="0">
              <a:buNone/>
            </a:pPr>
            <a:r>
              <a:rPr lang="en-US" sz="3000" b="1" dirty="0">
                <a:solidFill>
                  <a:srgbClr val="2E5395"/>
                </a:solidFill>
                <a:latin typeface="Calibri" pitchFamily="34" charset="0"/>
                <a:ea typeface="Calibri" pitchFamily="34" charset="-122"/>
                <a:cs typeface="Calibri" pitchFamily="34" charset="-120"/>
              </a:rPr>
              <a:t>4</a:t>
            </a:r>
            <a:endParaRPr lang="en-US" sz="3000" dirty="0"/>
          </a:p>
        </p:txBody>
      </p:sp>
      <p:sp>
        <p:nvSpPr>
          <p:cNvPr id="17" name="Text 15"/>
          <p:cNvSpPr/>
          <p:nvPr/>
        </p:nvSpPr>
        <p:spPr>
          <a:xfrm>
            <a:off x="9107424" y="2651760"/>
            <a:ext cx="2331720" cy="548640"/>
          </a:xfrm>
          <a:prstGeom prst="rect">
            <a:avLst/>
          </a:prstGeom>
          <a:noFill/>
          <a:ln/>
        </p:spPr>
        <p:txBody>
          <a:bodyPr wrap="square"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Bilan</a:t>
            </a:r>
            <a:endParaRPr lang="en-US" sz="1500" dirty="0"/>
          </a:p>
        </p:txBody>
      </p:sp>
      <p:sp>
        <p:nvSpPr>
          <p:cNvPr id="18" name="Text 16"/>
          <p:cNvSpPr/>
          <p:nvPr/>
        </p:nvSpPr>
        <p:spPr>
          <a:xfrm>
            <a:off x="9107424" y="3246120"/>
            <a:ext cx="2331720" cy="1737360"/>
          </a:xfrm>
          <a:prstGeom prst="rect">
            <a:avLst/>
          </a:prstGeom>
          <a:noFill/>
          <a:ln/>
        </p:spPr>
        <p:txBody>
          <a:bodyPr wrap="square" rtlCol="0" anchor="ctr"/>
          <a:lstStyle/>
          <a:p>
            <a:pPr algn="ctr" indent="0" marL="0">
              <a:lnSpc>
                <a:spcPct val="125000"/>
              </a:lnSpc>
              <a:buNone/>
            </a:pPr>
            <a:r>
              <a:rPr lang="en-US" sz="1250" dirty="0">
                <a:solidFill>
                  <a:srgbClr val="404040"/>
                </a:solidFill>
                <a:latin typeface="Calibri" pitchFamily="34" charset="0"/>
                <a:ea typeface="Calibri" pitchFamily="34" charset="-122"/>
                <a:cs typeface="Calibri" pitchFamily="34" charset="-120"/>
              </a:rPr>
              <a:t>Auto-évaluation des compétences acquises en fin de stage</a:t>
            </a:r>
            <a:endParaRPr lang="en-US" sz="1250" dirty="0"/>
          </a:p>
        </p:txBody>
      </p:sp>
      <p:sp>
        <p:nvSpPr>
          <p:cNvPr id="19" name="Text 17"/>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0" name="Text 18"/>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Le logiciel CATIA V5</a:t>
            </a:r>
            <a:endParaRPr lang="en-US" sz="3000" dirty="0"/>
          </a:p>
        </p:txBody>
      </p:sp>
      <p:sp>
        <p:nvSpPr>
          <p:cNvPr id="3" name="Text 1"/>
          <p:cNvSpPr/>
          <p:nvPr/>
        </p:nvSpPr>
        <p:spPr>
          <a:xfrm>
            <a:off x="548640" y="1417320"/>
            <a:ext cx="11064240" cy="411480"/>
          </a:xfrm>
          <a:prstGeom prst="rect">
            <a:avLst/>
          </a:prstGeom>
          <a:noFill/>
          <a:ln/>
        </p:spPr>
        <p:txBody>
          <a:bodyPr wrap="square" rtlCol="0" anchor="ctr"/>
          <a:lstStyle/>
          <a:p>
            <a:pPr indent="0" marL="0">
              <a:buNone/>
            </a:pPr>
            <a:r>
              <a:rPr lang="en-US" sz="1500" i="1" dirty="0">
                <a:solidFill>
                  <a:srgbClr val="2E5395"/>
                </a:solidFill>
                <a:latin typeface="Calibri" pitchFamily="34" charset="0"/>
                <a:ea typeface="Calibri" pitchFamily="34" charset="-122"/>
                <a:cs typeface="Calibri" pitchFamily="34" charset="-120"/>
              </a:rPr>
              <a:t>Conception Assistée Tridimensionnelle Interactive Appliquée — développé par Dassault Systèmes</a:t>
            </a:r>
            <a:endParaRPr lang="en-US" sz="1500" dirty="0"/>
          </a:p>
        </p:txBody>
      </p:sp>
      <p:sp>
        <p:nvSpPr>
          <p:cNvPr id="4" name="Text 2"/>
          <p:cNvSpPr/>
          <p:nvPr/>
        </p:nvSpPr>
        <p:spPr>
          <a:xfrm>
            <a:off x="548640" y="1920240"/>
            <a:ext cx="11064240" cy="822960"/>
          </a:xfrm>
          <a:prstGeom prst="rect">
            <a:avLst/>
          </a:prstGeom>
          <a:noFill/>
          <a:ln/>
        </p:spPr>
        <p:txBody>
          <a:bodyPr wrap="square" rtlCol="0" anchor="ctr"/>
          <a:lstStyle/>
          <a:p>
            <a:pPr indent="0" marL="0">
              <a:lnSpc>
                <a:spcPct val="130000"/>
              </a:lnSpc>
              <a:buNone/>
            </a:pPr>
            <a:r>
              <a:rPr lang="en-US" sz="1400" dirty="0">
                <a:solidFill>
                  <a:srgbClr val="404040"/>
                </a:solidFill>
                <a:latin typeface="Calibri" pitchFamily="34" charset="0"/>
                <a:ea typeface="Calibri" pitchFamily="34" charset="-122"/>
                <a:cs typeface="Calibri" pitchFamily="34" charset="-120"/>
              </a:rPr>
              <a:t>Né dans les années 1970 chez Dassault Aviation pour l'industrie aérospatiale, CATIA est aujourd'hui l'un des logiciels de CAO les plus utilisés au monde, présent dans l'automobile, l'aérospatiale, la mécanique et bien d'autres secteurs.</a:t>
            </a:r>
            <a:endParaRPr lang="en-US" sz="1400" dirty="0"/>
          </a:p>
        </p:txBody>
      </p:sp>
      <p:sp>
        <p:nvSpPr>
          <p:cNvPr id="5" name="Shape 3"/>
          <p:cNvSpPr/>
          <p:nvPr/>
        </p:nvSpPr>
        <p:spPr>
          <a:xfrm>
            <a:off x="548640" y="3017520"/>
            <a:ext cx="1783080" cy="777240"/>
          </a:xfrm>
          <a:prstGeom prst="rect">
            <a:avLst/>
          </a:prstGeom>
          <a:solidFill>
            <a:srgbClr val="DCE6F1"/>
          </a:solidFill>
          <a:ln/>
        </p:spPr>
      </p:sp>
      <p:sp>
        <p:nvSpPr>
          <p:cNvPr id="6" name="Text 4"/>
          <p:cNvSpPr/>
          <p:nvPr/>
        </p:nvSpPr>
        <p:spPr>
          <a:xfrm>
            <a:off x="54864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Aérospatiale</a:t>
            </a:r>
            <a:endParaRPr lang="en-US" sz="1250" dirty="0"/>
          </a:p>
        </p:txBody>
      </p:sp>
      <p:sp>
        <p:nvSpPr>
          <p:cNvPr id="7" name="Shape 5"/>
          <p:cNvSpPr/>
          <p:nvPr/>
        </p:nvSpPr>
        <p:spPr>
          <a:xfrm>
            <a:off x="2423160" y="3017520"/>
            <a:ext cx="1783080" cy="777240"/>
          </a:xfrm>
          <a:prstGeom prst="rect">
            <a:avLst/>
          </a:prstGeom>
          <a:solidFill>
            <a:srgbClr val="DCE6F1"/>
          </a:solidFill>
          <a:ln/>
        </p:spPr>
      </p:sp>
      <p:sp>
        <p:nvSpPr>
          <p:cNvPr id="8" name="Text 6"/>
          <p:cNvSpPr/>
          <p:nvPr/>
        </p:nvSpPr>
        <p:spPr>
          <a:xfrm>
            <a:off x="242316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Automobile</a:t>
            </a:r>
            <a:endParaRPr lang="en-US" sz="1250" dirty="0"/>
          </a:p>
        </p:txBody>
      </p:sp>
      <p:sp>
        <p:nvSpPr>
          <p:cNvPr id="9" name="Shape 7"/>
          <p:cNvSpPr/>
          <p:nvPr/>
        </p:nvSpPr>
        <p:spPr>
          <a:xfrm>
            <a:off x="4297680" y="3017520"/>
            <a:ext cx="1783080" cy="777240"/>
          </a:xfrm>
          <a:prstGeom prst="rect">
            <a:avLst/>
          </a:prstGeom>
          <a:solidFill>
            <a:srgbClr val="DCE6F1"/>
          </a:solidFill>
          <a:ln/>
        </p:spPr>
      </p:sp>
      <p:sp>
        <p:nvSpPr>
          <p:cNvPr id="10" name="Text 8"/>
          <p:cNvSpPr/>
          <p:nvPr/>
        </p:nvSpPr>
        <p:spPr>
          <a:xfrm>
            <a:off x="429768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Mécanique</a:t>
            </a:r>
            <a:endParaRPr lang="en-US" sz="1250" dirty="0"/>
          </a:p>
        </p:txBody>
      </p:sp>
      <p:sp>
        <p:nvSpPr>
          <p:cNvPr id="11" name="Shape 9"/>
          <p:cNvSpPr/>
          <p:nvPr/>
        </p:nvSpPr>
        <p:spPr>
          <a:xfrm>
            <a:off x="6172200" y="3017520"/>
            <a:ext cx="1783080" cy="777240"/>
          </a:xfrm>
          <a:prstGeom prst="rect">
            <a:avLst/>
          </a:prstGeom>
          <a:solidFill>
            <a:srgbClr val="DCE6F1"/>
          </a:solidFill>
          <a:ln/>
        </p:spPr>
      </p:sp>
      <p:sp>
        <p:nvSpPr>
          <p:cNvPr id="12" name="Text 10"/>
          <p:cNvSpPr/>
          <p:nvPr/>
        </p:nvSpPr>
        <p:spPr>
          <a:xfrm>
            <a:off x="617220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Architecture</a:t>
            </a:r>
            <a:endParaRPr lang="en-US" sz="1250" dirty="0"/>
          </a:p>
        </p:txBody>
      </p:sp>
      <p:sp>
        <p:nvSpPr>
          <p:cNvPr id="13" name="Shape 11"/>
          <p:cNvSpPr/>
          <p:nvPr/>
        </p:nvSpPr>
        <p:spPr>
          <a:xfrm>
            <a:off x="8046720" y="3017520"/>
            <a:ext cx="1783080" cy="777240"/>
          </a:xfrm>
          <a:prstGeom prst="rect">
            <a:avLst/>
          </a:prstGeom>
          <a:solidFill>
            <a:srgbClr val="DCE6F1"/>
          </a:solidFill>
          <a:ln/>
        </p:spPr>
      </p:sp>
      <p:sp>
        <p:nvSpPr>
          <p:cNvPr id="14" name="Text 12"/>
          <p:cNvSpPr/>
          <p:nvPr/>
        </p:nvSpPr>
        <p:spPr>
          <a:xfrm>
            <a:off x="804672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Naval</a:t>
            </a:r>
            <a:endParaRPr lang="en-US" sz="1250" dirty="0"/>
          </a:p>
        </p:txBody>
      </p:sp>
      <p:sp>
        <p:nvSpPr>
          <p:cNvPr id="15" name="Shape 13"/>
          <p:cNvSpPr/>
          <p:nvPr/>
        </p:nvSpPr>
        <p:spPr>
          <a:xfrm>
            <a:off x="9921240" y="3017520"/>
            <a:ext cx="1783080" cy="777240"/>
          </a:xfrm>
          <a:prstGeom prst="rect">
            <a:avLst/>
          </a:prstGeom>
          <a:solidFill>
            <a:srgbClr val="DCE6F1"/>
          </a:solidFill>
          <a:ln/>
        </p:spPr>
      </p:sp>
      <p:sp>
        <p:nvSpPr>
          <p:cNvPr id="16" name="Text 14"/>
          <p:cNvSpPr/>
          <p:nvPr/>
        </p:nvSpPr>
        <p:spPr>
          <a:xfrm>
            <a:off x="9921240" y="3017520"/>
            <a:ext cx="1783080" cy="777240"/>
          </a:xfrm>
          <a:prstGeom prst="rect">
            <a:avLst/>
          </a:prstGeom>
          <a:noFill/>
          <a:ln/>
        </p:spPr>
        <p:txBody>
          <a:bodyPr wrap="square"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Électronique</a:t>
            </a:r>
            <a:endParaRPr lang="en-US" sz="1250" dirty="0"/>
          </a:p>
        </p:txBody>
      </p:sp>
      <p:sp>
        <p:nvSpPr>
          <p:cNvPr id="17" name="Shape 15"/>
          <p:cNvSpPr/>
          <p:nvPr/>
        </p:nvSpPr>
        <p:spPr>
          <a:xfrm>
            <a:off x="548640" y="4160520"/>
            <a:ext cx="11064240" cy="1737360"/>
          </a:xfrm>
          <a:prstGeom prst="rect">
            <a:avLst/>
          </a:prstGeom>
          <a:solidFill>
            <a:srgbClr val="EFF3FA"/>
          </a:solidFill>
          <a:ln/>
        </p:spPr>
      </p:sp>
      <p:sp>
        <p:nvSpPr>
          <p:cNvPr id="18" name="Text 16"/>
          <p:cNvSpPr/>
          <p:nvPr/>
        </p:nvSpPr>
        <p:spPr>
          <a:xfrm>
            <a:off x="822960" y="4297680"/>
            <a:ext cx="10515600" cy="365760"/>
          </a:xfrm>
          <a:prstGeom prst="rect">
            <a:avLst/>
          </a:prstGeom>
          <a:noFill/>
          <a:ln/>
        </p:spPr>
        <p:txBody>
          <a:bodyPr wrap="square"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Application chez Polydesign Systems</a:t>
            </a:r>
            <a:endParaRPr lang="en-US" sz="1400" dirty="0"/>
          </a:p>
        </p:txBody>
      </p:sp>
      <p:sp>
        <p:nvSpPr>
          <p:cNvPr id="19" name="Text 17"/>
          <p:cNvSpPr/>
          <p:nvPr/>
        </p:nvSpPr>
        <p:spPr>
          <a:xfrm>
            <a:off x="822960" y="4709160"/>
            <a:ext cx="10515600" cy="1097280"/>
          </a:xfrm>
          <a:prstGeom prst="rect">
            <a:avLst/>
          </a:prstGeom>
          <a:noFill/>
          <a:ln/>
        </p:spPr>
        <p:txBody>
          <a:bodyPr wrap="square" rtlCol="0" anchor="ctr"/>
          <a:lstStyle/>
          <a:p>
            <a:pPr indent="0" marL="0">
              <a:lnSpc>
                <a:spcPct val="130000"/>
              </a:lnSpc>
              <a:buNone/>
            </a:pPr>
            <a:r>
              <a:rPr lang="en-US" sz="1350" dirty="0">
                <a:solidFill>
                  <a:srgbClr val="404040"/>
                </a:solidFill>
                <a:latin typeface="Calibri" pitchFamily="34" charset="0"/>
                <a:ea typeface="Calibri" pitchFamily="34" charset="-122"/>
                <a:cs typeface="Calibri" pitchFamily="34" charset="-120"/>
              </a:rPr>
              <a:t>Définition géométrique des pièces d'habillage intérieur, vérification de la compatibilité dimensionnelle avec les points de fixation, production des mises en plan destinées aux outillages de découpe et de moulage.</a:t>
            </a:r>
            <a:endParaRPr lang="en-US" sz="1350" dirty="0"/>
          </a:p>
        </p:txBody>
      </p:sp>
      <p:sp>
        <p:nvSpPr>
          <p:cNvPr id="20" name="Text 18"/>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1" name="Text 19"/>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Principales fonctionnalités mobilisées</a:t>
            </a:r>
            <a:endParaRPr lang="en-US" sz="3000" dirty="0"/>
          </a:p>
        </p:txBody>
      </p:sp>
      <p:sp>
        <p:nvSpPr>
          <p:cNvPr id="3" name="Shape 1"/>
          <p:cNvSpPr/>
          <p:nvPr/>
        </p:nvSpPr>
        <p:spPr>
          <a:xfrm>
            <a:off x="548640" y="1600200"/>
            <a:ext cx="5349240" cy="1965960"/>
          </a:xfrm>
          <a:prstGeom prst="rect">
            <a:avLst/>
          </a:prstGeom>
          <a:solidFill>
            <a:srgbClr val="FFFFFF"/>
          </a:solidFill>
          <a:ln w="19050">
            <a:solidFill>
              <a:srgbClr val="DCE6F1"/>
            </a:solidFill>
            <a:prstDash val="solid"/>
          </a:ln>
          <a:effectLst>
            <a:outerShdw sx="100000" sy="100000" kx="0" ky="0" algn="bl" rotWithShape="0" blurRad="76200" dist="25400" dir="5400000">
              <a:srgbClr val="BFBFBF">
                <a:alpha val="35000"/>
              </a:srgbClr>
            </a:outerShdw>
          </a:effectLst>
        </p:spPr>
      </p:sp>
      <p:sp>
        <p:nvSpPr>
          <p:cNvPr id="4" name="Shape 2"/>
          <p:cNvSpPr/>
          <p:nvPr/>
        </p:nvSpPr>
        <p:spPr>
          <a:xfrm>
            <a:off x="548640" y="1600200"/>
            <a:ext cx="109728" cy="1965960"/>
          </a:xfrm>
          <a:prstGeom prst="rect">
            <a:avLst/>
          </a:prstGeom>
          <a:solidFill>
            <a:srgbClr val="2E5395"/>
          </a:solidFill>
          <a:ln/>
        </p:spPr>
      </p:sp>
      <p:sp>
        <p:nvSpPr>
          <p:cNvPr id="5" name="Text 3"/>
          <p:cNvSpPr/>
          <p:nvPr/>
        </p:nvSpPr>
        <p:spPr>
          <a:xfrm>
            <a:off x="868680" y="1783080"/>
            <a:ext cx="480060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Modélisation 3D</a:t>
            </a:r>
            <a:endParaRPr lang="en-US" sz="1700" dirty="0"/>
          </a:p>
        </p:txBody>
      </p:sp>
      <p:sp>
        <p:nvSpPr>
          <p:cNvPr id="6" name="Text 4"/>
          <p:cNvSpPr/>
          <p:nvPr/>
        </p:nvSpPr>
        <p:spPr>
          <a:xfrm>
            <a:off x="868680" y="2286000"/>
            <a:ext cx="4800600" cy="1143000"/>
          </a:xfrm>
          <a:prstGeom prst="rect">
            <a:avLst/>
          </a:prstGeom>
          <a:noFill/>
          <a:ln/>
        </p:spPr>
        <p:txBody>
          <a:bodyPr wrap="square" rtlCol="0" anchor="ctr"/>
          <a:lstStyle/>
          <a:p>
            <a:pPr indent="0" marL="0">
              <a:lnSpc>
                <a:spcPct val="130000"/>
              </a:lnSpc>
              <a:buNone/>
            </a:pPr>
            <a:r>
              <a:rPr lang="en-US" sz="1300" dirty="0">
                <a:solidFill>
                  <a:srgbClr val="404040"/>
                </a:solidFill>
                <a:latin typeface="Calibri" pitchFamily="34" charset="0"/>
                <a:ea typeface="Calibri" pitchFamily="34" charset="-122"/>
                <a:cs typeface="Calibri" pitchFamily="34" charset="-120"/>
              </a:rPr>
              <a:t>Esquisses, extrusion, révolution, arbre de spécifications</a:t>
            </a:r>
            <a:endParaRPr lang="en-US" sz="1300" dirty="0"/>
          </a:p>
        </p:txBody>
      </p:sp>
      <p:sp>
        <p:nvSpPr>
          <p:cNvPr id="7" name="Shape 5"/>
          <p:cNvSpPr/>
          <p:nvPr/>
        </p:nvSpPr>
        <p:spPr>
          <a:xfrm>
            <a:off x="6217920" y="1600200"/>
            <a:ext cx="5349240" cy="1965960"/>
          </a:xfrm>
          <a:prstGeom prst="rect">
            <a:avLst/>
          </a:prstGeom>
          <a:solidFill>
            <a:srgbClr val="FFFFFF"/>
          </a:solidFill>
          <a:ln w="19050">
            <a:solidFill>
              <a:srgbClr val="DCE6F1"/>
            </a:solidFill>
            <a:prstDash val="solid"/>
          </a:ln>
          <a:effectLst>
            <a:outerShdw sx="100000" sy="100000" kx="0" ky="0" algn="bl" rotWithShape="0" blurRad="76200" dist="25400" dir="5400000">
              <a:srgbClr val="BFBFBF">
                <a:alpha val="35000"/>
              </a:srgbClr>
            </a:outerShdw>
          </a:effectLst>
        </p:spPr>
      </p:sp>
      <p:sp>
        <p:nvSpPr>
          <p:cNvPr id="8" name="Shape 6"/>
          <p:cNvSpPr/>
          <p:nvPr/>
        </p:nvSpPr>
        <p:spPr>
          <a:xfrm>
            <a:off x="6217920" y="1600200"/>
            <a:ext cx="109728" cy="1965960"/>
          </a:xfrm>
          <a:prstGeom prst="rect">
            <a:avLst/>
          </a:prstGeom>
          <a:solidFill>
            <a:srgbClr val="2E5395"/>
          </a:solidFill>
          <a:ln/>
        </p:spPr>
      </p:sp>
      <p:sp>
        <p:nvSpPr>
          <p:cNvPr id="9" name="Text 7"/>
          <p:cNvSpPr/>
          <p:nvPr/>
        </p:nvSpPr>
        <p:spPr>
          <a:xfrm>
            <a:off x="6537960" y="1783080"/>
            <a:ext cx="480060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Assemblage</a:t>
            </a:r>
            <a:endParaRPr lang="en-US" sz="1700" dirty="0"/>
          </a:p>
        </p:txBody>
      </p:sp>
      <p:sp>
        <p:nvSpPr>
          <p:cNvPr id="10" name="Text 8"/>
          <p:cNvSpPr/>
          <p:nvPr/>
        </p:nvSpPr>
        <p:spPr>
          <a:xfrm>
            <a:off x="6537960" y="2286000"/>
            <a:ext cx="4800600" cy="1143000"/>
          </a:xfrm>
          <a:prstGeom prst="rect">
            <a:avLst/>
          </a:prstGeom>
          <a:noFill/>
          <a:ln/>
        </p:spPr>
        <p:txBody>
          <a:bodyPr wrap="square" rtlCol="0" anchor="ctr"/>
          <a:lstStyle/>
          <a:p>
            <a:pPr indent="0" marL="0">
              <a:lnSpc>
                <a:spcPct val="130000"/>
              </a:lnSpc>
              <a:buNone/>
            </a:pPr>
            <a:r>
              <a:rPr lang="en-US" sz="1300" dirty="0">
                <a:solidFill>
                  <a:srgbClr val="404040"/>
                </a:solidFill>
                <a:latin typeface="Calibri" pitchFamily="34" charset="0"/>
                <a:ea typeface="Calibri" pitchFamily="34" charset="-122"/>
                <a:cs typeface="Calibri" pitchFamily="34" charset="-120"/>
              </a:rPr>
              <a:t>Contraintes géométriques et cinématiques entre composants</a:t>
            </a:r>
            <a:endParaRPr lang="en-US" sz="1300" dirty="0"/>
          </a:p>
        </p:txBody>
      </p:sp>
      <p:sp>
        <p:nvSpPr>
          <p:cNvPr id="11" name="Shape 9"/>
          <p:cNvSpPr/>
          <p:nvPr/>
        </p:nvSpPr>
        <p:spPr>
          <a:xfrm>
            <a:off x="548640" y="3840480"/>
            <a:ext cx="5349240" cy="1965960"/>
          </a:xfrm>
          <a:prstGeom prst="rect">
            <a:avLst/>
          </a:prstGeom>
          <a:solidFill>
            <a:srgbClr val="FFFFFF"/>
          </a:solidFill>
          <a:ln w="19050">
            <a:solidFill>
              <a:srgbClr val="DCE6F1"/>
            </a:solidFill>
            <a:prstDash val="solid"/>
          </a:ln>
          <a:effectLst>
            <a:outerShdw sx="100000" sy="100000" kx="0" ky="0" algn="bl" rotWithShape="0" blurRad="76200" dist="25400" dir="5400000">
              <a:srgbClr val="BFBFBF">
                <a:alpha val="35000"/>
              </a:srgbClr>
            </a:outerShdw>
          </a:effectLst>
        </p:spPr>
      </p:sp>
      <p:sp>
        <p:nvSpPr>
          <p:cNvPr id="12" name="Shape 10"/>
          <p:cNvSpPr/>
          <p:nvPr/>
        </p:nvSpPr>
        <p:spPr>
          <a:xfrm>
            <a:off x="548640" y="3840480"/>
            <a:ext cx="109728" cy="1965960"/>
          </a:xfrm>
          <a:prstGeom prst="rect">
            <a:avLst/>
          </a:prstGeom>
          <a:solidFill>
            <a:srgbClr val="2E5395"/>
          </a:solidFill>
          <a:ln/>
        </p:spPr>
      </p:sp>
      <p:sp>
        <p:nvSpPr>
          <p:cNvPr id="13" name="Text 11"/>
          <p:cNvSpPr/>
          <p:nvPr/>
        </p:nvSpPr>
        <p:spPr>
          <a:xfrm>
            <a:off x="868680" y="4023360"/>
            <a:ext cx="480060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Mise en plan</a:t>
            </a:r>
            <a:endParaRPr lang="en-US" sz="1700" dirty="0"/>
          </a:p>
        </p:txBody>
      </p:sp>
      <p:sp>
        <p:nvSpPr>
          <p:cNvPr id="14" name="Text 12"/>
          <p:cNvSpPr/>
          <p:nvPr/>
        </p:nvSpPr>
        <p:spPr>
          <a:xfrm>
            <a:off x="868680" y="4526280"/>
            <a:ext cx="4800600" cy="1143000"/>
          </a:xfrm>
          <a:prstGeom prst="rect">
            <a:avLst/>
          </a:prstGeom>
          <a:noFill/>
          <a:ln/>
        </p:spPr>
        <p:txBody>
          <a:bodyPr wrap="square" rtlCol="0" anchor="ctr"/>
          <a:lstStyle/>
          <a:p>
            <a:pPr indent="0" marL="0">
              <a:lnSpc>
                <a:spcPct val="130000"/>
              </a:lnSpc>
              <a:buNone/>
            </a:pPr>
            <a:r>
              <a:rPr lang="en-US" sz="1300" dirty="0">
                <a:solidFill>
                  <a:srgbClr val="404040"/>
                </a:solidFill>
                <a:latin typeface="Calibri" pitchFamily="34" charset="0"/>
                <a:ea typeface="Calibri" pitchFamily="34" charset="-122"/>
                <a:cs typeface="Calibri" pitchFamily="34" charset="-120"/>
              </a:rPr>
              <a:t>Vues, coupes, cotation, nomenclatures automatiques</a:t>
            </a:r>
            <a:endParaRPr lang="en-US" sz="1300" dirty="0"/>
          </a:p>
        </p:txBody>
      </p:sp>
      <p:sp>
        <p:nvSpPr>
          <p:cNvPr id="15" name="Shape 13"/>
          <p:cNvSpPr/>
          <p:nvPr/>
        </p:nvSpPr>
        <p:spPr>
          <a:xfrm>
            <a:off x="6217920" y="3840480"/>
            <a:ext cx="5349240" cy="1965960"/>
          </a:xfrm>
          <a:prstGeom prst="rect">
            <a:avLst/>
          </a:prstGeom>
          <a:solidFill>
            <a:srgbClr val="FFFFFF"/>
          </a:solidFill>
          <a:ln w="19050">
            <a:solidFill>
              <a:srgbClr val="DCE6F1"/>
            </a:solidFill>
            <a:prstDash val="solid"/>
          </a:ln>
          <a:effectLst>
            <a:outerShdw sx="100000" sy="100000" kx="0" ky="0" algn="bl" rotWithShape="0" blurRad="76200" dist="25400" dir="5400000">
              <a:srgbClr val="BFBFBF">
                <a:alpha val="35000"/>
              </a:srgbClr>
            </a:outerShdw>
          </a:effectLst>
        </p:spPr>
      </p:sp>
      <p:sp>
        <p:nvSpPr>
          <p:cNvPr id="16" name="Shape 14"/>
          <p:cNvSpPr/>
          <p:nvPr/>
        </p:nvSpPr>
        <p:spPr>
          <a:xfrm>
            <a:off x="6217920" y="3840480"/>
            <a:ext cx="109728" cy="1965960"/>
          </a:xfrm>
          <a:prstGeom prst="rect">
            <a:avLst/>
          </a:prstGeom>
          <a:solidFill>
            <a:srgbClr val="2E5395"/>
          </a:solidFill>
          <a:ln/>
        </p:spPr>
      </p:sp>
      <p:sp>
        <p:nvSpPr>
          <p:cNvPr id="17" name="Text 15"/>
          <p:cNvSpPr/>
          <p:nvPr/>
        </p:nvSpPr>
        <p:spPr>
          <a:xfrm>
            <a:off x="6537960" y="4023360"/>
            <a:ext cx="480060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Analyse &amp; simulation</a:t>
            </a:r>
            <a:endParaRPr lang="en-US" sz="1700" dirty="0"/>
          </a:p>
        </p:txBody>
      </p:sp>
      <p:sp>
        <p:nvSpPr>
          <p:cNvPr id="18" name="Text 16"/>
          <p:cNvSpPr/>
          <p:nvPr/>
        </p:nvSpPr>
        <p:spPr>
          <a:xfrm>
            <a:off x="6537960" y="4526280"/>
            <a:ext cx="4800600" cy="1143000"/>
          </a:xfrm>
          <a:prstGeom prst="rect">
            <a:avLst/>
          </a:prstGeom>
          <a:noFill/>
          <a:ln/>
        </p:spPr>
        <p:txBody>
          <a:bodyPr wrap="square" rtlCol="0" anchor="ctr"/>
          <a:lstStyle/>
          <a:p>
            <a:pPr indent="0" marL="0">
              <a:lnSpc>
                <a:spcPct val="130000"/>
              </a:lnSpc>
              <a:buNone/>
            </a:pPr>
            <a:r>
              <a:rPr lang="en-US" sz="1300" dirty="0">
                <a:solidFill>
                  <a:srgbClr val="404040"/>
                </a:solidFill>
                <a:latin typeface="Calibri" pitchFamily="34" charset="0"/>
                <a:ea typeface="Calibri" pitchFamily="34" charset="-122"/>
                <a:cs typeface="Calibri" pitchFamily="34" charset="-120"/>
              </a:rPr>
              <a:t>Contraintes, déformations, mouvement, collisions</a:t>
            </a:r>
            <a:endParaRPr lang="en-US" sz="1300" dirty="0"/>
          </a:p>
        </p:txBody>
      </p:sp>
      <p:sp>
        <p:nvSpPr>
          <p:cNvPr id="19" name="Text 17"/>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0" name="Text 18"/>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Travaux réalisés</a:t>
            </a:r>
            <a:endParaRPr lang="en-US" sz="3000" dirty="0"/>
          </a:p>
        </p:txBody>
      </p:sp>
      <p:sp>
        <p:nvSpPr>
          <p:cNvPr id="3" name="Text 1"/>
          <p:cNvSpPr/>
          <p:nvPr/>
        </p:nvSpPr>
        <p:spPr>
          <a:xfrm>
            <a:off x="548640" y="960120"/>
            <a:ext cx="11091672" cy="365760"/>
          </a:xfrm>
          <a:prstGeom prst="rect">
            <a:avLst/>
          </a:prstGeom>
          <a:noFill/>
          <a:ln/>
        </p:spPr>
        <p:txBody>
          <a:bodyPr wrap="square" rtlCol="0" anchor="ctr"/>
          <a:lstStyle/>
          <a:p>
            <a:pPr indent="0" marL="0">
              <a:buNone/>
            </a:pPr>
            <a:r>
              <a:rPr lang="en-US" sz="1500" i="1" dirty="0">
                <a:solidFill>
                  <a:srgbClr val="2E5395"/>
                </a:solidFill>
                <a:latin typeface="Calibri" pitchFamily="34" charset="0"/>
                <a:ea typeface="Calibri" pitchFamily="34" charset="-122"/>
                <a:cs typeface="Calibri" pitchFamily="34" charset="-120"/>
              </a:rPr>
              <a:t>Modélisation de dix pièces mécaniques sous CATIA V5</a:t>
            </a:r>
            <a:endParaRPr lang="en-US" sz="1500" dirty="0"/>
          </a:p>
        </p:txBody>
      </p:sp>
      <p:sp>
        <p:nvSpPr>
          <p:cNvPr id="4" name="Text 2"/>
          <p:cNvSpPr/>
          <p:nvPr/>
        </p:nvSpPr>
        <p:spPr>
          <a:xfrm>
            <a:off x="548640" y="1554480"/>
            <a:ext cx="10972800" cy="365760"/>
          </a:xfrm>
          <a:prstGeom prst="rect">
            <a:avLst/>
          </a:prstGeom>
          <a:noFill/>
          <a:ln/>
        </p:spPr>
        <p:txBody>
          <a:bodyPr wrap="square"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Démarche de modélisation appliquée à chaque pièce :</a:t>
            </a:r>
            <a:endParaRPr lang="en-US" sz="1500" dirty="0"/>
          </a:p>
        </p:txBody>
      </p:sp>
      <p:sp>
        <p:nvSpPr>
          <p:cNvPr id="5" name="Shape 3"/>
          <p:cNvSpPr/>
          <p:nvPr/>
        </p:nvSpPr>
        <p:spPr>
          <a:xfrm>
            <a:off x="640080" y="2103120"/>
            <a:ext cx="457200" cy="457200"/>
          </a:xfrm>
          <a:prstGeom prst="ellipse">
            <a:avLst/>
          </a:prstGeom>
          <a:solidFill>
            <a:srgbClr val="2E5395"/>
          </a:solidFill>
          <a:ln/>
        </p:spPr>
      </p:sp>
      <p:sp>
        <p:nvSpPr>
          <p:cNvPr id="6" name="Text 4"/>
          <p:cNvSpPr/>
          <p:nvPr/>
        </p:nvSpPr>
        <p:spPr>
          <a:xfrm>
            <a:off x="640080" y="210312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2084832"/>
            <a:ext cx="9875520" cy="502920"/>
          </a:xfrm>
          <a:prstGeom prst="rect">
            <a:avLst/>
          </a:prstGeom>
          <a:noFill/>
          <a:ln/>
        </p:spPr>
        <p:txBody>
          <a:bodyPr wrap="square" rtlCol="0" anchor="ctr"/>
          <a:lstStyle/>
          <a:p>
            <a:pPr indent="0" marL="0">
              <a:buNone/>
            </a:pPr>
            <a:r>
              <a:rPr lang="en-US" sz="1450" dirty="0">
                <a:solidFill>
                  <a:srgbClr val="262626"/>
                </a:solidFill>
                <a:latin typeface="Calibri" pitchFamily="34" charset="0"/>
                <a:ea typeface="Calibri" pitchFamily="34" charset="-122"/>
                <a:cs typeface="Calibri" pitchFamily="34" charset="-120"/>
              </a:rPr>
              <a:t>Analyse de la géométrie et des éléments fonctionnels</a:t>
            </a:r>
            <a:endParaRPr lang="en-US" sz="1450" dirty="0"/>
          </a:p>
        </p:txBody>
      </p:sp>
      <p:sp>
        <p:nvSpPr>
          <p:cNvPr id="8" name="Shape 6"/>
          <p:cNvSpPr/>
          <p:nvPr/>
        </p:nvSpPr>
        <p:spPr>
          <a:xfrm>
            <a:off x="640080" y="2724912"/>
            <a:ext cx="457200" cy="457200"/>
          </a:xfrm>
          <a:prstGeom prst="ellipse">
            <a:avLst/>
          </a:prstGeom>
          <a:solidFill>
            <a:srgbClr val="2E5395"/>
          </a:solidFill>
          <a:ln/>
        </p:spPr>
      </p:sp>
      <p:sp>
        <p:nvSpPr>
          <p:cNvPr id="9" name="Text 7"/>
          <p:cNvSpPr/>
          <p:nvPr/>
        </p:nvSpPr>
        <p:spPr>
          <a:xfrm>
            <a:off x="640080" y="272491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2706624"/>
            <a:ext cx="9875520" cy="502920"/>
          </a:xfrm>
          <a:prstGeom prst="rect">
            <a:avLst/>
          </a:prstGeom>
          <a:noFill/>
          <a:ln/>
        </p:spPr>
        <p:txBody>
          <a:bodyPr wrap="square" rtlCol="0" anchor="ctr"/>
          <a:lstStyle/>
          <a:p>
            <a:pPr indent="0" marL="0">
              <a:buNone/>
            </a:pPr>
            <a:r>
              <a:rPr lang="en-US" sz="1450" dirty="0">
                <a:solidFill>
                  <a:srgbClr val="262626"/>
                </a:solidFill>
                <a:latin typeface="Calibri" pitchFamily="34" charset="0"/>
                <a:ea typeface="Calibri" pitchFamily="34" charset="-122"/>
                <a:cs typeface="Calibri" pitchFamily="34" charset="-120"/>
              </a:rPr>
              <a:t>Esquisse 2D du profil de base</a:t>
            </a:r>
            <a:endParaRPr lang="en-US" sz="1450" dirty="0"/>
          </a:p>
        </p:txBody>
      </p:sp>
      <p:sp>
        <p:nvSpPr>
          <p:cNvPr id="11" name="Shape 9"/>
          <p:cNvSpPr/>
          <p:nvPr/>
        </p:nvSpPr>
        <p:spPr>
          <a:xfrm>
            <a:off x="640080" y="3346704"/>
            <a:ext cx="457200" cy="457200"/>
          </a:xfrm>
          <a:prstGeom prst="ellipse">
            <a:avLst/>
          </a:prstGeom>
          <a:solidFill>
            <a:srgbClr val="2E5395"/>
          </a:solidFill>
          <a:ln/>
        </p:spPr>
      </p:sp>
      <p:sp>
        <p:nvSpPr>
          <p:cNvPr id="12" name="Text 10"/>
          <p:cNvSpPr/>
          <p:nvPr/>
        </p:nvSpPr>
        <p:spPr>
          <a:xfrm>
            <a:off x="640080" y="3346704"/>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80160" y="3328416"/>
            <a:ext cx="9875520" cy="502920"/>
          </a:xfrm>
          <a:prstGeom prst="rect">
            <a:avLst/>
          </a:prstGeom>
          <a:noFill/>
          <a:ln/>
        </p:spPr>
        <p:txBody>
          <a:bodyPr wrap="square" rtlCol="0" anchor="ctr"/>
          <a:lstStyle/>
          <a:p>
            <a:pPr indent="0" marL="0">
              <a:buNone/>
            </a:pPr>
            <a:r>
              <a:rPr lang="en-US" sz="1450" dirty="0">
                <a:solidFill>
                  <a:srgbClr val="262626"/>
                </a:solidFill>
                <a:latin typeface="Calibri" pitchFamily="34" charset="0"/>
                <a:ea typeface="Calibri" pitchFamily="34" charset="-122"/>
                <a:cs typeface="Calibri" pitchFamily="34" charset="-120"/>
              </a:rPr>
              <a:t>Construction du volume (extrusion, révolution)</a:t>
            </a:r>
            <a:endParaRPr lang="en-US" sz="1450" dirty="0"/>
          </a:p>
        </p:txBody>
      </p:sp>
      <p:sp>
        <p:nvSpPr>
          <p:cNvPr id="14" name="Shape 12"/>
          <p:cNvSpPr/>
          <p:nvPr/>
        </p:nvSpPr>
        <p:spPr>
          <a:xfrm>
            <a:off x="640080" y="3968496"/>
            <a:ext cx="457200" cy="457200"/>
          </a:xfrm>
          <a:prstGeom prst="ellipse">
            <a:avLst/>
          </a:prstGeom>
          <a:solidFill>
            <a:srgbClr val="2E5395"/>
          </a:solidFill>
          <a:ln/>
        </p:spPr>
      </p:sp>
      <p:sp>
        <p:nvSpPr>
          <p:cNvPr id="15" name="Text 13"/>
          <p:cNvSpPr/>
          <p:nvPr/>
        </p:nvSpPr>
        <p:spPr>
          <a:xfrm>
            <a:off x="640080" y="3968496"/>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280160" y="3950208"/>
            <a:ext cx="9875520" cy="502920"/>
          </a:xfrm>
          <a:prstGeom prst="rect">
            <a:avLst/>
          </a:prstGeom>
          <a:noFill/>
          <a:ln/>
        </p:spPr>
        <p:txBody>
          <a:bodyPr wrap="square" rtlCol="0" anchor="ctr"/>
          <a:lstStyle/>
          <a:p>
            <a:pPr indent="0" marL="0">
              <a:buNone/>
            </a:pPr>
            <a:r>
              <a:rPr lang="en-US" sz="1450" dirty="0">
                <a:solidFill>
                  <a:srgbClr val="262626"/>
                </a:solidFill>
                <a:latin typeface="Calibri" pitchFamily="34" charset="0"/>
                <a:ea typeface="Calibri" pitchFamily="34" charset="-122"/>
                <a:cs typeface="Calibri" pitchFamily="34" charset="-120"/>
              </a:rPr>
              <a:t>Ajout des détails (perçages, congés, chanfreins)</a:t>
            </a:r>
            <a:endParaRPr lang="en-US" sz="1450" dirty="0"/>
          </a:p>
        </p:txBody>
      </p:sp>
      <p:sp>
        <p:nvSpPr>
          <p:cNvPr id="17" name="Shape 15"/>
          <p:cNvSpPr/>
          <p:nvPr/>
        </p:nvSpPr>
        <p:spPr>
          <a:xfrm>
            <a:off x="640080" y="4590288"/>
            <a:ext cx="457200" cy="457200"/>
          </a:xfrm>
          <a:prstGeom prst="ellipse">
            <a:avLst/>
          </a:prstGeom>
          <a:solidFill>
            <a:srgbClr val="2E5395"/>
          </a:solidFill>
          <a:ln/>
        </p:spPr>
      </p:sp>
      <p:sp>
        <p:nvSpPr>
          <p:cNvPr id="18" name="Text 16"/>
          <p:cNvSpPr/>
          <p:nvPr/>
        </p:nvSpPr>
        <p:spPr>
          <a:xfrm>
            <a:off x="640080" y="459028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280160" y="4572000"/>
            <a:ext cx="9875520" cy="502920"/>
          </a:xfrm>
          <a:prstGeom prst="rect">
            <a:avLst/>
          </a:prstGeom>
          <a:noFill/>
          <a:ln/>
        </p:spPr>
        <p:txBody>
          <a:bodyPr wrap="square" rtlCol="0" anchor="ctr"/>
          <a:lstStyle/>
          <a:p>
            <a:pPr indent="0" marL="0">
              <a:buNone/>
            </a:pPr>
            <a:r>
              <a:rPr lang="en-US" sz="1450" dirty="0">
                <a:solidFill>
                  <a:srgbClr val="262626"/>
                </a:solidFill>
                <a:latin typeface="Calibri" pitchFamily="34" charset="0"/>
                <a:ea typeface="Calibri" pitchFamily="34" charset="-122"/>
                <a:cs typeface="Calibri" pitchFamily="34" charset="-120"/>
              </a:rPr>
              <a:t>Vérification via l'arbre de spécifications</a:t>
            </a:r>
            <a:endParaRPr lang="en-US" sz="1450" dirty="0"/>
          </a:p>
        </p:txBody>
      </p:sp>
      <p:sp>
        <p:nvSpPr>
          <p:cNvPr id="20" name="Text 18"/>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1" name="Text 19"/>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Travaux réalisés (1/2)</a:t>
            </a:r>
            <a:endParaRPr lang="en-US" sz="3000" dirty="0"/>
          </a:p>
        </p:txBody>
      </p:sp>
      <p:sp>
        <p:nvSpPr>
          <p:cNvPr id="3" name="Shape 1"/>
          <p:cNvSpPr/>
          <p:nvPr/>
        </p:nvSpPr>
        <p:spPr>
          <a:xfrm>
            <a:off x="594360" y="1600200"/>
            <a:ext cx="3611880" cy="2331720"/>
          </a:xfrm>
          <a:prstGeom prst="rect">
            <a:avLst/>
          </a:prstGeom>
          <a:solidFill>
            <a:srgbClr val="F2F5FB"/>
          </a:solidFill>
          <a:ln w="12700">
            <a:solidFill>
              <a:srgbClr val="DCE6F1"/>
            </a:solidFill>
            <a:prstDash val="solid"/>
          </a:ln>
        </p:spPr>
      </p:sp>
      <p:pic>
        <p:nvPicPr>
          <p:cNvPr id="4" name="Image 0" descr="/home/claude/extract/pieces/attache.jpeg">    </p:cNvPr>
          <p:cNvPicPr>
            <a:picLocks noChangeAspect="1"/>
          </p:cNvPicPr>
          <p:nvPr/>
        </p:nvPicPr>
        <p:blipFill>
          <a:blip r:embed="rId1"/>
          <a:srcRect l="0" r="0" t="0" b="0"/>
          <a:stretch/>
        </p:blipFill>
        <p:spPr>
          <a:xfrm>
            <a:off x="822960" y="1737360"/>
            <a:ext cx="3154680" cy="1645920"/>
          </a:xfrm>
          <a:prstGeom prst="rect">
            <a:avLst/>
          </a:prstGeom>
        </p:spPr>
      </p:pic>
      <p:sp>
        <p:nvSpPr>
          <p:cNvPr id="5" name="Text 2"/>
          <p:cNvSpPr/>
          <p:nvPr/>
        </p:nvSpPr>
        <p:spPr>
          <a:xfrm>
            <a:off x="594360"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Attache</a:t>
            </a:r>
            <a:endParaRPr lang="en-US" sz="1350" dirty="0"/>
          </a:p>
        </p:txBody>
      </p:sp>
      <p:sp>
        <p:nvSpPr>
          <p:cNvPr id="6" name="Shape 3"/>
          <p:cNvSpPr/>
          <p:nvPr/>
        </p:nvSpPr>
        <p:spPr>
          <a:xfrm>
            <a:off x="4462272" y="1600200"/>
            <a:ext cx="3611880" cy="2331720"/>
          </a:xfrm>
          <a:prstGeom prst="rect">
            <a:avLst/>
          </a:prstGeom>
          <a:solidFill>
            <a:srgbClr val="F2F5FB"/>
          </a:solidFill>
          <a:ln w="12700">
            <a:solidFill>
              <a:srgbClr val="DCE6F1"/>
            </a:solidFill>
            <a:prstDash val="solid"/>
          </a:ln>
        </p:spPr>
      </p:sp>
      <p:pic>
        <p:nvPicPr>
          <p:cNvPr id="7" name="Image 1" descr="/home/claude/extract/pieces/filaire.jpeg">    </p:cNvPr>
          <p:cNvPicPr>
            <a:picLocks noChangeAspect="1"/>
          </p:cNvPicPr>
          <p:nvPr/>
        </p:nvPicPr>
        <p:blipFill>
          <a:blip r:embed="rId2"/>
          <a:srcRect l="0" r="0" t="0" b="0"/>
          <a:stretch/>
        </p:blipFill>
        <p:spPr>
          <a:xfrm>
            <a:off x="4690872" y="1737360"/>
            <a:ext cx="3154680" cy="1645920"/>
          </a:xfrm>
          <a:prstGeom prst="rect">
            <a:avLst/>
          </a:prstGeom>
        </p:spPr>
      </p:pic>
      <p:sp>
        <p:nvSpPr>
          <p:cNvPr id="8" name="Text 4"/>
          <p:cNvSpPr/>
          <p:nvPr/>
        </p:nvSpPr>
        <p:spPr>
          <a:xfrm>
            <a:off x="4462272"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Filaire</a:t>
            </a:r>
            <a:endParaRPr lang="en-US" sz="1350" dirty="0"/>
          </a:p>
        </p:txBody>
      </p:sp>
      <p:sp>
        <p:nvSpPr>
          <p:cNvPr id="9" name="Shape 5"/>
          <p:cNvSpPr/>
          <p:nvPr/>
        </p:nvSpPr>
        <p:spPr>
          <a:xfrm>
            <a:off x="8330184" y="1600200"/>
            <a:ext cx="3611880" cy="2331720"/>
          </a:xfrm>
          <a:prstGeom prst="rect">
            <a:avLst/>
          </a:prstGeom>
          <a:solidFill>
            <a:srgbClr val="F2F5FB"/>
          </a:solidFill>
          <a:ln w="12700">
            <a:solidFill>
              <a:srgbClr val="DCE6F1"/>
            </a:solidFill>
            <a:prstDash val="solid"/>
          </a:ln>
        </p:spPr>
      </p:sp>
      <p:pic>
        <p:nvPicPr>
          <p:cNvPr id="10" name="Image 2" descr="/home/claude/extract/pieces/came.jpeg">    </p:cNvPr>
          <p:cNvPicPr>
            <a:picLocks noChangeAspect="1"/>
          </p:cNvPicPr>
          <p:nvPr/>
        </p:nvPicPr>
        <p:blipFill>
          <a:blip r:embed="rId3"/>
          <a:srcRect l="0" r="0" t="0" b="0"/>
          <a:stretch/>
        </p:blipFill>
        <p:spPr>
          <a:xfrm>
            <a:off x="8558784" y="1737360"/>
            <a:ext cx="3154680" cy="1645920"/>
          </a:xfrm>
          <a:prstGeom prst="rect">
            <a:avLst/>
          </a:prstGeom>
        </p:spPr>
      </p:pic>
      <p:sp>
        <p:nvSpPr>
          <p:cNvPr id="11" name="Text 6"/>
          <p:cNvSpPr/>
          <p:nvPr/>
        </p:nvSpPr>
        <p:spPr>
          <a:xfrm>
            <a:off x="8330184"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Came</a:t>
            </a:r>
            <a:endParaRPr lang="en-US" sz="1350" dirty="0"/>
          </a:p>
        </p:txBody>
      </p:sp>
      <p:sp>
        <p:nvSpPr>
          <p:cNvPr id="12" name="Shape 7"/>
          <p:cNvSpPr/>
          <p:nvPr/>
        </p:nvSpPr>
        <p:spPr>
          <a:xfrm>
            <a:off x="594360" y="4206240"/>
            <a:ext cx="3611880" cy="2331720"/>
          </a:xfrm>
          <a:prstGeom prst="rect">
            <a:avLst/>
          </a:prstGeom>
          <a:solidFill>
            <a:srgbClr val="F2F5FB"/>
          </a:solidFill>
          <a:ln w="12700">
            <a:solidFill>
              <a:srgbClr val="DCE6F1"/>
            </a:solidFill>
            <a:prstDash val="solid"/>
          </a:ln>
        </p:spPr>
      </p:sp>
      <p:pic>
        <p:nvPicPr>
          <p:cNvPr id="13" name="Image 3" descr="/home/claude/extract/pieces/equerre.jpeg">    </p:cNvPr>
          <p:cNvPicPr>
            <a:picLocks noChangeAspect="1"/>
          </p:cNvPicPr>
          <p:nvPr/>
        </p:nvPicPr>
        <p:blipFill>
          <a:blip r:embed="rId4"/>
          <a:srcRect l="0" r="0" t="0" b="0"/>
          <a:stretch/>
        </p:blipFill>
        <p:spPr>
          <a:xfrm>
            <a:off x="822960" y="4343400"/>
            <a:ext cx="3154680" cy="1645920"/>
          </a:xfrm>
          <a:prstGeom prst="rect">
            <a:avLst/>
          </a:prstGeom>
        </p:spPr>
      </p:pic>
      <p:sp>
        <p:nvSpPr>
          <p:cNvPr id="14" name="Text 8"/>
          <p:cNvSpPr/>
          <p:nvPr/>
        </p:nvSpPr>
        <p:spPr>
          <a:xfrm>
            <a:off x="594360" y="608076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Équerre</a:t>
            </a:r>
            <a:endParaRPr lang="en-US" sz="1350" dirty="0"/>
          </a:p>
        </p:txBody>
      </p:sp>
      <p:sp>
        <p:nvSpPr>
          <p:cNvPr id="15" name="Shape 9"/>
          <p:cNvSpPr/>
          <p:nvPr/>
        </p:nvSpPr>
        <p:spPr>
          <a:xfrm>
            <a:off x="4462272" y="4206240"/>
            <a:ext cx="3611880" cy="2331720"/>
          </a:xfrm>
          <a:prstGeom prst="rect">
            <a:avLst/>
          </a:prstGeom>
          <a:solidFill>
            <a:srgbClr val="F2F5FB"/>
          </a:solidFill>
          <a:ln w="12700">
            <a:solidFill>
              <a:srgbClr val="DCE6F1"/>
            </a:solidFill>
            <a:prstDash val="solid"/>
          </a:ln>
        </p:spPr>
      </p:sp>
      <p:pic>
        <p:nvPicPr>
          <p:cNvPr id="16" name="Image 4" descr="/home/claude/extract/pieces/support_montage.jpeg">    </p:cNvPr>
          <p:cNvPicPr>
            <a:picLocks noChangeAspect="1"/>
          </p:cNvPicPr>
          <p:nvPr/>
        </p:nvPicPr>
        <p:blipFill>
          <a:blip r:embed="rId5"/>
          <a:srcRect l="0" r="0" t="0" b="0"/>
          <a:stretch/>
        </p:blipFill>
        <p:spPr>
          <a:xfrm>
            <a:off x="4690872" y="4343400"/>
            <a:ext cx="3154680" cy="1645920"/>
          </a:xfrm>
          <a:prstGeom prst="rect">
            <a:avLst/>
          </a:prstGeom>
        </p:spPr>
      </p:pic>
      <p:sp>
        <p:nvSpPr>
          <p:cNvPr id="17" name="Text 10"/>
          <p:cNvSpPr/>
          <p:nvPr/>
        </p:nvSpPr>
        <p:spPr>
          <a:xfrm>
            <a:off x="4462272" y="608076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Support de montage</a:t>
            </a:r>
            <a:endParaRPr lang="en-US" sz="1350" dirty="0"/>
          </a:p>
        </p:txBody>
      </p:sp>
      <p:sp>
        <p:nvSpPr>
          <p:cNvPr id="18" name="Shape 11"/>
          <p:cNvSpPr/>
          <p:nvPr/>
        </p:nvSpPr>
        <p:spPr>
          <a:xfrm>
            <a:off x="8330184" y="4206240"/>
            <a:ext cx="3611880" cy="2331720"/>
          </a:xfrm>
          <a:prstGeom prst="rect">
            <a:avLst/>
          </a:prstGeom>
          <a:solidFill>
            <a:srgbClr val="F2F5FB"/>
          </a:solidFill>
          <a:ln w="12700">
            <a:solidFill>
              <a:srgbClr val="DCE6F1"/>
            </a:solidFill>
            <a:prstDash val="solid"/>
          </a:ln>
        </p:spPr>
      </p:sp>
      <p:pic>
        <p:nvPicPr>
          <p:cNvPr id="19" name="Image 5" descr="/home/claude/extract/pieces/platine.jpeg">    </p:cNvPr>
          <p:cNvPicPr>
            <a:picLocks noChangeAspect="1"/>
          </p:cNvPicPr>
          <p:nvPr/>
        </p:nvPicPr>
        <p:blipFill>
          <a:blip r:embed="rId6"/>
          <a:srcRect l="0" r="0" t="0" b="0"/>
          <a:stretch/>
        </p:blipFill>
        <p:spPr>
          <a:xfrm>
            <a:off x="8558784" y="4343400"/>
            <a:ext cx="3154680" cy="1645920"/>
          </a:xfrm>
          <a:prstGeom prst="rect">
            <a:avLst/>
          </a:prstGeom>
        </p:spPr>
      </p:pic>
      <p:sp>
        <p:nvSpPr>
          <p:cNvPr id="20" name="Text 12"/>
          <p:cNvSpPr/>
          <p:nvPr/>
        </p:nvSpPr>
        <p:spPr>
          <a:xfrm>
            <a:off x="8330184" y="608076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Platine</a:t>
            </a:r>
            <a:endParaRPr lang="en-US" sz="1350" dirty="0"/>
          </a:p>
        </p:txBody>
      </p:sp>
      <p:sp>
        <p:nvSpPr>
          <p:cNvPr id="21" name="Text 13"/>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14"/>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Travaux réalisés (2/2)</a:t>
            </a:r>
            <a:endParaRPr lang="en-US" sz="3000" dirty="0"/>
          </a:p>
        </p:txBody>
      </p:sp>
      <p:sp>
        <p:nvSpPr>
          <p:cNvPr id="3" name="Shape 1"/>
          <p:cNvSpPr/>
          <p:nvPr/>
        </p:nvSpPr>
        <p:spPr>
          <a:xfrm>
            <a:off x="594360" y="1600200"/>
            <a:ext cx="3611880" cy="2331720"/>
          </a:xfrm>
          <a:prstGeom prst="rect">
            <a:avLst/>
          </a:prstGeom>
          <a:solidFill>
            <a:srgbClr val="F2F5FB"/>
          </a:solidFill>
          <a:ln w="12700">
            <a:solidFill>
              <a:srgbClr val="DCE6F1"/>
            </a:solidFill>
            <a:prstDash val="solid"/>
          </a:ln>
        </p:spPr>
      </p:sp>
      <p:pic>
        <p:nvPicPr>
          <p:cNvPr id="4" name="Image 0" descr="/home/claude/extract/pieces/carter.jpeg">    </p:cNvPr>
          <p:cNvPicPr>
            <a:picLocks noChangeAspect="1"/>
          </p:cNvPicPr>
          <p:nvPr/>
        </p:nvPicPr>
        <p:blipFill>
          <a:blip r:embed="rId1"/>
          <a:srcRect l="0" r="0" t="0" b="0"/>
          <a:stretch/>
        </p:blipFill>
        <p:spPr>
          <a:xfrm>
            <a:off x="822960" y="1737360"/>
            <a:ext cx="3154680" cy="1645920"/>
          </a:xfrm>
          <a:prstGeom prst="rect">
            <a:avLst/>
          </a:prstGeom>
        </p:spPr>
      </p:pic>
      <p:sp>
        <p:nvSpPr>
          <p:cNvPr id="5" name="Text 2"/>
          <p:cNvSpPr/>
          <p:nvPr/>
        </p:nvSpPr>
        <p:spPr>
          <a:xfrm>
            <a:off x="594360"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Carter</a:t>
            </a:r>
            <a:endParaRPr lang="en-US" sz="1350" dirty="0"/>
          </a:p>
        </p:txBody>
      </p:sp>
      <p:sp>
        <p:nvSpPr>
          <p:cNvPr id="6" name="Shape 3"/>
          <p:cNvSpPr/>
          <p:nvPr/>
        </p:nvSpPr>
        <p:spPr>
          <a:xfrm>
            <a:off x="4462272" y="1600200"/>
            <a:ext cx="3611880" cy="2331720"/>
          </a:xfrm>
          <a:prstGeom prst="rect">
            <a:avLst/>
          </a:prstGeom>
          <a:solidFill>
            <a:srgbClr val="F2F5FB"/>
          </a:solidFill>
          <a:ln w="12700">
            <a:solidFill>
              <a:srgbClr val="DCE6F1"/>
            </a:solidFill>
            <a:prstDash val="solid"/>
          </a:ln>
        </p:spPr>
      </p:sp>
      <p:pic>
        <p:nvPicPr>
          <p:cNvPr id="7" name="Image 1" descr="/home/claude/extract/pieces/support_capteur.jpeg">    </p:cNvPr>
          <p:cNvPicPr>
            <a:picLocks noChangeAspect="1"/>
          </p:cNvPicPr>
          <p:nvPr/>
        </p:nvPicPr>
        <p:blipFill>
          <a:blip r:embed="rId2"/>
          <a:srcRect l="0" r="0" t="0" b="0"/>
          <a:stretch/>
        </p:blipFill>
        <p:spPr>
          <a:xfrm>
            <a:off x="4690872" y="1737360"/>
            <a:ext cx="3154680" cy="1645920"/>
          </a:xfrm>
          <a:prstGeom prst="rect">
            <a:avLst/>
          </a:prstGeom>
        </p:spPr>
      </p:pic>
      <p:sp>
        <p:nvSpPr>
          <p:cNvPr id="8" name="Text 4"/>
          <p:cNvSpPr/>
          <p:nvPr/>
        </p:nvSpPr>
        <p:spPr>
          <a:xfrm>
            <a:off x="4462272"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Support de capteur</a:t>
            </a:r>
            <a:endParaRPr lang="en-US" sz="1350" dirty="0"/>
          </a:p>
        </p:txBody>
      </p:sp>
      <p:sp>
        <p:nvSpPr>
          <p:cNvPr id="9" name="Shape 5"/>
          <p:cNvSpPr/>
          <p:nvPr/>
        </p:nvSpPr>
        <p:spPr>
          <a:xfrm>
            <a:off x="8330184" y="1600200"/>
            <a:ext cx="3611880" cy="2331720"/>
          </a:xfrm>
          <a:prstGeom prst="rect">
            <a:avLst/>
          </a:prstGeom>
          <a:solidFill>
            <a:srgbClr val="F2F5FB"/>
          </a:solidFill>
          <a:ln w="12700">
            <a:solidFill>
              <a:srgbClr val="DCE6F1"/>
            </a:solidFill>
            <a:prstDash val="solid"/>
          </a:ln>
        </p:spPr>
      </p:sp>
      <p:pic>
        <p:nvPicPr>
          <p:cNvPr id="10" name="Image 2" descr="/home/claude/extract/pieces/support_tringlerie.jpeg">    </p:cNvPr>
          <p:cNvPicPr>
            <a:picLocks noChangeAspect="1"/>
          </p:cNvPicPr>
          <p:nvPr/>
        </p:nvPicPr>
        <p:blipFill>
          <a:blip r:embed="rId3"/>
          <a:srcRect l="0" r="0" t="0" b="0"/>
          <a:stretch/>
        </p:blipFill>
        <p:spPr>
          <a:xfrm>
            <a:off x="8558784" y="1737360"/>
            <a:ext cx="3154680" cy="1645920"/>
          </a:xfrm>
          <a:prstGeom prst="rect">
            <a:avLst/>
          </a:prstGeom>
        </p:spPr>
      </p:pic>
      <p:sp>
        <p:nvSpPr>
          <p:cNvPr id="11" name="Text 6"/>
          <p:cNvSpPr/>
          <p:nvPr/>
        </p:nvSpPr>
        <p:spPr>
          <a:xfrm>
            <a:off x="8330184" y="347472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Support de tringlerie</a:t>
            </a:r>
            <a:endParaRPr lang="en-US" sz="1350" dirty="0"/>
          </a:p>
        </p:txBody>
      </p:sp>
      <p:sp>
        <p:nvSpPr>
          <p:cNvPr id="12" name="Shape 7"/>
          <p:cNvSpPr/>
          <p:nvPr/>
        </p:nvSpPr>
        <p:spPr>
          <a:xfrm>
            <a:off x="594360" y="4206240"/>
            <a:ext cx="3611880" cy="2331720"/>
          </a:xfrm>
          <a:prstGeom prst="rect">
            <a:avLst/>
          </a:prstGeom>
          <a:solidFill>
            <a:srgbClr val="F2F5FB"/>
          </a:solidFill>
          <a:ln w="12700">
            <a:solidFill>
              <a:srgbClr val="DCE6F1"/>
            </a:solidFill>
            <a:prstDash val="solid"/>
          </a:ln>
        </p:spPr>
      </p:sp>
      <p:pic>
        <p:nvPicPr>
          <p:cNvPr id="13" name="Image 3" descr="/home/claude/extract/pieces/support_symetrique.jpeg">    </p:cNvPr>
          <p:cNvPicPr>
            <a:picLocks noChangeAspect="1"/>
          </p:cNvPicPr>
          <p:nvPr/>
        </p:nvPicPr>
        <p:blipFill>
          <a:blip r:embed="rId4"/>
          <a:srcRect l="0" r="0" t="0" b="0"/>
          <a:stretch/>
        </p:blipFill>
        <p:spPr>
          <a:xfrm>
            <a:off x="822960" y="4343400"/>
            <a:ext cx="3154680" cy="1645920"/>
          </a:xfrm>
          <a:prstGeom prst="rect">
            <a:avLst/>
          </a:prstGeom>
        </p:spPr>
      </p:pic>
      <p:sp>
        <p:nvSpPr>
          <p:cNvPr id="14" name="Text 8"/>
          <p:cNvSpPr/>
          <p:nvPr/>
        </p:nvSpPr>
        <p:spPr>
          <a:xfrm>
            <a:off x="594360" y="6080760"/>
            <a:ext cx="3611880" cy="384048"/>
          </a:xfrm>
          <a:prstGeom prst="rect">
            <a:avLst/>
          </a:prstGeom>
          <a:noFill/>
          <a:ln/>
        </p:spPr>
        <p:txBody>
          <a:bodyPr wrap="square" rtlCol="0" anchor="ctr"/>
          <a:lstStyle/>
          <a:p>
            <a:pPr algn="ctr" indent="0" marL="0">
              <a:buNone/>
            </a:pPr>
            <a:r>
              <a:rPr lang="en-US" sz="1350" b="1" dirty="0">
                <a:solidFill>
                  <a:srgbClr val="1F3864"/>
                </a:solidFill>
                <a:latin typeface="Calibri" pitchFamily="34" charset="0"/>
                <a:ea typeface="Calibri" pitchFamily="34" charset="-122"/>
                <a:cs typeface="Calibri" pitchFamily="34" charset="-120"/>
              </a:rPr>
              <a:t>Support symétrique</a:t>
            </a:r>
            <a:endParaRPr lang="en-US" sz="1350" dirty="0"/>
          </a:p>
        </p:txBody>
      </p:sp>
      <p:sp>
        <p:nvSpPr>
          <p:cNvPr id="15" name="Text 9"/>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6" name="Text 10"/>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Synthèse des compétences techniques mobilisées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4206240"/>
        </p:xfrm>
        <a:graphic>
          <a:graphicData uri="http://schemas.openxmlformats.org/drawingml/2006/table">
            <a:tbl>
              <a:tblPr/>
              <a:tblGrid>
                <a:gridCol w="4846320"/>
                <a:gridCol w="6217920"/>
              </a:tblGrid>
              <a:tr h="600891">
                <a:tc>
                  <a:txBody>
                    <a:bodyPr/>
                    <a:lstStyle/>
                    <a:p>
                      <a:pPr indent="0" marL="0">
                        <a:buNone/>
                      </a:pPr>
                      <a:r>
                        <a:rPr lang="en-US" sz="1400" b="1" dirty="0">
                          <a:solidFill>
                            <a:srgbClr val="FFFFFF"/>
                          </a:solidFill>
                        </a:rPr>
                        <a:t>Fonctionnalité CATIA V5</a:t>
                      </a:r>
                      <a:endParaRPr lang="en-US" sz="140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400" b="1" dirty="0">
                          <a:solidFill>
                            <a:srgbClr val="FFFFFF"/>
                          </a:solidFill>
                        </a:rPr>
                        <a:t>Pièces concernées</a:t>
                      </a:r>
                      <a:endParaRPr lang="en-US" sz="140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r>
              <a:tr h="600891">
                <a:tc>
                  <a:txBody>
                    <a:bodyPr/>
                    <a:lstStyle/>
                    <a:p>
                      <a:pPr indent="0" marL="0">
                        <a:buNone/>
                      </a:pPr>
                      <a:r>
                        <a:rPr lang="en-US" sz="1350" dirty="0">
                          <a:solidFill>
                            <a:srgbClr val="000000"/>
                          </a:solidFill>
                        </a:rPr>
                        <a:t>Esquisse 2D et extrusion</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indent="0" marL="0">
                        <a:buNone/>
                      </a:pPr>
                      <a:r>
                        <a:rPr lang="en-US" sz="1350" dirty="0">
                          <a:solidFill>
                            <a:srgbClr val="000000"/>
                          </a:solidFill>
                        </a:rPr>
                        <a:t>Ensemble des 10 pièces</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r>
              <a:tr h="600891">
                <a:tc>
                  <a:txBody>
                    <a:bodyPr/>
                    <a:lstStyle/>
                    <a:p>
                      <a:pPr indent="0" marL="0">
                        <a:buNone/>
                      </a:pPr>
                      <a:r>
                        <a:rPr lang="en-US" sz="1350" dirty="0">
                          <a:solidFill>
                            <a:srgbClr val="000000"/>
                          </a:solidFill>
                        </a:rPr>
                        <a:t>Révolution</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rPr>
                        <a:t>Came, Support symétrique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00891">
                <a:tc>
                  <a:txBody>
                    <a:bodyPr/>
                    <a:lstStyle/>
                    <a:p>
                      <a:pPr indent="0" marL="0">
                        <a:buNone/>
                      </a:pPr>
                      <a:r>
                        <a:rPr lang="en-US" sz="1350" dirty="0">
                          <a:solidFill>
                            <a:srgbClr val="000000"/>
                          </a:solidFill>
                        </a:rPr>
                        <a:t>Perçage / alésage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indent="0" marL="0">
                        <a:buNone/>
                      </a:pPr>
                      <a:r>
                        <a:rPr lang="en-US" sz="1350" dirty="0">
                          <a:solidFill>
                            <a:srgbClr val="000000"/>
                          </a:solidFill>
                        </a:rPr>
                        <a:t>9 pièces sur 10</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r>
              <a:tr h="600891">
                <a:tc>
                  <a:txBody>
                    <a:bodyPr/>
                    <a:lstStyle/>
                    <a:p>
                      <a:pPr indent="0" marL="0">
                        <a:buNone/>
                      </a:pPr>
                      <a:r>
                        <a:rPr lang="en-US" sz="1350" dirty="0">
                          <a:solidFill>
                            <a:srgbClr val="000000"/>
                          </a:solidFill>
                        </a:rPr>
                        <a:t>Congés et chanfreins</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rPr>
                        <a:t>Équerre, Support de capteur, Support de tringlerie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00891">
                <a:tc>
                  <a:txBody>
                    <a:bodyPr/>
                    <a:lstStyle/>
                    <a:p>
                      <a:pPr indent="0" marL="0">
                        <a:buNone/>
                      </a:pPr>
                      <a:r>
                        <a:rPr lang="en-US" sz="1350" dirty="0">
                          <a:solidFill>
                            <a:srgbClr val="000000"/>
                          </a:solidFill>
                        </a:rPr>
                        <a:t>Opérations booléennes</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c>
                  <a:txBody>
                    <a:bodyPr/>
                    <a:lstStyle/>
                    <a:p>
                      <a:pPr indent="0" marL="0">
                        <a:buNone/>
                      </a:pPr>
                      <a:r>
                        <a:rPr lang="en-US" sz="1350" dirty="0">
                          <a:solidFill>
                            <a:srgbClr val="000000"/>
                          </a:solidFill>
                        </a:rPr>
                        <a:t>Support de tringlerie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CE6F1"/>
                    </a:solidFill>
                  </a:tcPr>
                </a:tc>
              </a:tr>
              <a:tr h="600891">
                <a:tc>
                  <a:txBody>
                    <a:bodyPr/>
                    <a:lstStyle/>
                    <a:p>
                      <a:pPr indent="0" marL="0">
                        <a:buNone/>
                      </a:pPr>
                      <a:r>
                        <a:rPr lang="en-US" sz="1350" dirty="0">
                          <a:solidFill>
                            <a:srgbClr val="000000"/>
                          </a:solidFill>
                        </a:rPr>
                        <a:t>Symétrie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rPr>
                        <a:t>Support symétrique</a:t>
                      </a:r>
                      <a:endParaRPr lang="en-US" sz="1350" dirty="0"/>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5" name="Text 2"/>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Difficultés rencontrées et solutions apportées</a:t>
            </a:r>
            <a:endParaRPr lang="en-US" sz="3000" dirty="0"/>
          </a:p>
        </p:txBody>
      </p:sp>
      <p:sp>
        <p:nvSpPr>
          <p:cNvPr id="3" name="Shape 1"/>
          <p:cNvSpPr/>
          <p:nvPr/>
        </p:nvSpPr>
        <p:spPr>
          <a:xfrm>
            <a:off x="548640" y="1691640"/>
            <a:ext cx="11064240" cy="1325880"/>
          </a:xfrm>
          <a:prstGeom prst="rect">
            <a:avLst/>
          </a:prstGeom>
          <a:solidFill>
            <a:srgbClr val="F2F5FB"/>
          </a:solidFill>
          <a:ln/>
        </p:spPr>
      </p:sp>
      <p:sp>
        <p:nvSpPr>
          <p:cNvPr id="4" name="Shape 2"/>
          <p:cNvSpPr/>
          <p:nvPr/>
        </p:nvSpPr>
        <p:spPr>
          <a:xfrm>
            <a:off x="548640" y="1691640"/>
            <a:ext cx="91440" cy="1325880"/>
          </a:xfrm>
          <a:prstGeom prst="rect">
            <a:avLst/>
          </a:prstGeom>
          <a:solidFill>
            <a:srgbClr val="C0504D"/>
          </a:solidFill>
          <a:ln/>
        </p:spPr>
      </p:sp>
      <p:sp>
        <p:nvSpPr>
          <p:cNvPr id="5" name="Text 3"/>
          <p:cNvSpPr/>
          <p:nvPr/>
        </p:nvSpPr>
        <p:spPr>
          <a:xfrm>
            <a:off x="822960" y="1783080"/>
            <a:ext cx="1828800" cy="320040"/>
          </a:xfrm>
          <a:prstGeom prst="rect">
            <a:avLst/>
          </a:prstGeom>
          <a:noFill/>
          <a:ln/>
        </p:spPr>
        <p:txBody>
          <a:bodyPr wrap="square" rtlCol="0" anchor="ctr"/>
          <a:lstStyle/>
          <a:p>
            <a:pPr indent="0" marL="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6" name="Text 4"/>
          <p:cNvSpPr/>
          <p:nvPr/>
        </p:nvSpPr>
        <p:spPr>
          <a:xfrm>
            <a:off x="822960" y="2075688"/>
            <a:ext cx="512064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Richesse fonctionnelle du logiciel</a:t>
            </a:r>
            <a:endParaRPr lang="en-US" sz="1400" dirty="0"/>
          </a:p>
        </p:txBody>
      </p:sp>
      <p:sp>
        <p:nvSpPr>
          <p:cNvPr id="7" name="Text 5"/>
          <p:cNvSpPr/>
          <p:nvPr/>
        </p:nvSpPr>
        <p:spPr>
          <a:xfrm>
            <a:off x="6126480" y="1783080"/>
            <a:ext cx="2743200" cy="320040"/>
          </a:xfrm>
          <a:prstGeom prst="rect">
            <a:avLst/>
          </a:prstGeom>
          <a:noFill/>
          <a:ln/>
        </p:spPr>
        <p:txBody>
          <a:bodyPr wrap="square" rtlCol="0" anchor="ctr"/>
          <a:lstStyle/>
          <a:p>
            <a:pPr indent="0" marL="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8" name="Text 6"/>
          <p:cNvSpPr/>
          <p:nvPr/>
        </p:nvSpPr>
        <p:spPr>
          <a:xfrm>
            <a:off x="6126480" y="2075688"/>
            <a:ext cx="521208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Accompagnement progressif de l'encadrant, découverte par complexité croissante</a:t>
            </a:r>
            <a:endParaRPr lang="en-US" sz="1400" dirty="0"/>
          </a:p>
        </p:txBody>
      </p:sp>
      <p:sp>
        <p:nvSpPr>
          <p:cNvPr id="9" name="Shape 7"/>
          <p:cNvSpPr/>
          <p:nvPr/>
        </p:nvSpPr>
        <p:spPr>
          <a:xfrm>
            <a:off x="548640" y="3200400"/>
            <a:ext cx="11064240" cy="1325880"/>
          </a:xfrm>
          <a:prstGeom prst="rect">
            <a:avLst/>
          </a:prstGeom>
          <a:solidFill>
            <a:srgbClr val="F2F5FB"/>
          </a:solidFill>
          <a:ln/>
        </p:spPr>
      </p:sp>
      <p:sp>
        <p:nvSpPr>
          <p:cNvPr id="10" name="Shape 8"/>
          <p:cNvSpPr/>
          <p:nvPr/>
        </p:nvSpPr>
        <p:spPr>
          <a:xfrm>
            <a:off x="548640" y="3200400"/>
            <a:ext cx="91440" cy="1325880"/>
          </a:xfrm>
          <a:prstGeom prst="rect">
            <a:avLst/>
          </a:prstGeom>
          <a:solidFill>
            <a:srgbClr val="C0504D"/>
          </a:solidFill>
          <a:ln/>
        </p:spPr>
      </p:sp>
      <p:sp>
        <p:nvSpPr>
          <p:cNvPr id="11" name="Text 9"/>
          <p:cNvSpPr/>
          <p:nvPr/>
        </p:nvSpPr>
        <p:spPr>
          <a:xfrm>
            <a:off x="822960" y="3291840"/>
            <a:ext cx="1828800" cy="320040"/>
          </a:xfrm>
          <a:prstGeom prst="rect">
            <a:avLst/>
          </a:prstGeom>
          <a:noFill/>
          <a:ln/>
        </p:spPr>
        <p:txBody>
          <a:bodyPr wrap="square" rtlCol="0" anchor="ctr"/>
          <a:lstStyle/>
          <a:p>
            <a:pPr indent="0" marL="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12" name="Text 10"/>
          <p:cNvSpPr/>
          <p:nvPr/>
        </p:nvSpPr>
        <p:spPr>
          <a:xfrm>
            <a:off x="822960" y="3584448"/>
            <a:ext cx="512064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Raisonnement en trois dimensions</a:t>
            </a:r>
            <a:endParaRPr lang="en-US" sz="1400" dirty="0"/>
          </a:p>
        </p:txBody>
      </p:sp>
      <p:sp>
        <p:nvSpPr>
          <p:cNvPr id="13" name="Text 11"/>
          <p:cNvSpPr/>
          <p:nvPr/>
        </p:nvSpPr>
        <p:spPr>
          <a:xfrm>
            <a:off x="6126480" y="3291840"/>
            <a:ext cx="2743200" cy="320040"/>
          </a:xfrm>
          <a:prstGeom prst="rect">
            <a:avLst/>
          </a:prstGeom>
          <a:noFill/>
          <a:ln/>
        </p:spPr>
        <p:txBody>
          <a:bodyPr wrap="square" rtlCol="0" anchor="ctr"/>
          <a:lstStyle/>
          <a:p>
            <a:pPr indent="0" marL="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14" name="Text 12"/>
          <p:cNvSpPr/>
          <p:nvPr/>
        </p:nvSpPr>
        <p:spPr>
          <a:xfrm>
            <a:off x="6126480" y="3584448"/>
            <a:ext cx="521208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Pratique répétée et usage systématique de l'arbre de spécifications</a:t>
            </a:r>
            <a:endParaRPr lang="en-US" sz="1400" dirty="0"/>
          </a:p>
        </p:txBody>
      </p:sp>
      <p:sp>
        <p:nvSpPr>
          <p:cNvPr id="15" name="Shape 13"/>
          <p:cNvSpPr/>
          <p:nvPr/>
        </p:nvSpPr>
        <p:spPr>
          <a:xfrm>
            <a:off x="548640" y="4709160"/>
            <a:ext cx="11064240" cy="1325880"/>
          </a:xfrm>
          <a:prstGeom prst="rect">
            <a:avLst/>
          </a:prstGeom>
          <a:solidFill>
            <a:srgbClr val="F2F5FB"/>
          </a:solidFill>
          <a:ln/>
        </p:spPr>
      </p:sp>
      <p:sp>
        <p:nvSpPr>
          <p:cNvPr id="16" name="Shape 14"/>
          <p:cNvSpPr/>
          <p:nvPr/>
        </p:nvSpPr>
        <p:spPr>
          <a:xfrm>
            <a:off x="548640" y="4709160"/>
            <a:ext cx="91440" cy="1325880"/>
          </a:xfrm>
          <a:prstGeom prst="rect">
            <a:avLst/>
          </a:prstGeom>
          <a:solidFill>
            <a:srgbClr val="C0504D"/>
          </a:solidFill>
          <a:ln/>
        </p:spPr>
      </p:sp>
      <p:sp>
        <p:nvSpPr>
          <p:cNvPr id="17" name="Text 15"/>
          <p:cNvSpPr/>
          <p:nvPr/>
        </p:nvSpPr>
        <p:spPr>
          <a:xfrm>
            <a:off x="822960" y="4800600"/>
            <a:ext cx="1828800" cy="320040"/>
          </a:xfrm>
          <a:prstGeom prst="rect">
            <a:avLst/>
          </a:prstGeom>
          <a:noFill/>
          <a:ln/>
        </p:spPr>
        <p:txBody>
          <a:bodyPr wrap="square" rtlCol="0" anchor="ctr"/>
          <a:lstStyle/>
          <a:p>
            <a:pPr indent="0" marL="0">
              <a:buNone/>
            </a:pPr>
            <a:r>
              <a:rPr lang="en-US" sz="1150" b="1" dirty="0">
                <a:solidFill>
                  <a:srgbClr val="C0504D"/>
                </a:solidFill>
                <a:latin typeface="Calibri" pitchFamily="34" charset="0"/>
                <a:ea typeface="Calibri" pitchFamily="34" charset="-122"/>
                <a:cs typeface="Calibri" pitchFamily="34" charset="-120"/>
              </a:rPr>
              <a:t>Difficulté</a:t>
            </a:r>
            <a:endParaRPr lang="en-US" sz="1150" dirty="0"/>
          </a:p>
        </p:txBody>
      </p:sp>
      <p:sp>
        <p:nvSpPr>
          <p:cNvPr id="18" name="Text 16"/>
          <p:cNvSpPr/>
          <p:nvPr/>
        </p:nvSpPr>
        <p:spPr>
          <a:xfrm>
            <a:off x="822960" y="5093208"/>
            <a:ext cx="512064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Lecture de pièces existantes</a:t>
            </a:r>
            <a:endParaRPr lang="en-US" sz="1400" dirty="0"/>
          </a:p>
        </p:txBody>
      </p:sp>
      <p:sp>
        <p:nvSpPr>
          <p:cNvPr id="19" name="Text 17"/>
          <p:cNvSpPr/>
          <p:nvPr/>
        </p:nvSpPr>
        <p:spPr>
          <a:xfrm>
            <a:off x="6126480" y="4800600"/>
            <a:ext cx="2743200" cy="320040"/>
          </a:xfrm>
          <a:prstGeom prst="rect">
            <a:avLst/>
          </a:prstGeom>
          <a:noFill/>
          <a:ln/>
        </p:spPr>
        <p:txBody>
          <a:bodyPr wrap="square" rtlCol="0" anchor="ctr"/>
          <a:lstStyle/>
          <a:p>
            <a:pPr indent="0" marL="0">
              <a:buNone/>
            </a:pPr>
            <a:r>
              <a:rPr lang="en-US" sz="1150" b="1" dirty="0">
                <a:solidFill>
                  <a:srgbClr val="4C8C4A"/>
                </a:solidFill>
                <a:latin typeface="Calibri" pitchFamily="34" charset="0"/>
                <a:ea typeface="Calibri" pitchFamily="34" charset="-122"/>
                <a:cs typeface="Calibri" pitchFamily="34" charset="-120"/>
              </a:rPr>
              <a:t>Solution apportée</a:t>
            </a:r>
            <a:endParaRPr lang="en-US" sz="1150" dirty="0"/>
          </a:p>
        </p:txBody>
      </p:sp>
      <p:sp>
        <p:nvSpPr>
          <p:cNvPr id="20" name="Text 18"/>
          <p:cNvSpPr/>
          <p:nvPr/>
        </p:nvSpPr>
        <p:spPr>
          <a:xfrm>
            <a:off x="6126480" y="5093208"/>
            <a:ext cx="5212080" cy="822960"/>
          </a:xfrm>
          <a:prstGeom prst="rect">
            <a:avLst/>
          </a:prstGeom>
          <a:noFill/>
          <a:ln/>
        </p:spPr>
        <p:txBody>
          <a:bodyPr wrap="square" rtlCol="0" anchor="t"/>
          <a:lstStyle/>
          <a:p>
            <a:pPr indent="0" marL="0">
              <a:buNone/>
            </a:pPr>
            <a:r>
              <a:rPr lang="en-US" sz="1400" dirty="0">
                <a:solidFill>
                  <a:srgbClr val="262626"/>
                </a:solidFill>
                <a:latin typeface="Calibri" pitchFamily="34" charset="0"/>
                <a:ea typeface="Calibri" pitchFamily="34" charset="-122"/>
                <a:cs typeface="Calibri" pitchFamily="34" charset="-120"/>
              </a:rPr>
              <a:t>Travail méthodique d'observation préalable à toute modélisation</a:t>
            </a:r>
            <a:endParaRPr lang="en-US" sz="1400" dirty="0"/>
          </a:p>
        </p:txBody>
      </p:sp>
      <p:sp>
        <p:nvSpPr>
          <p:cNvPr id="21" name="Text 19"/>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22" name="Text 20"/>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indent="0" marL="0">
              <a:buNone/>
            </a:pPr>
            <a:r>
              <a:rPr lang="en-US" sz="3000" b="1" dirty="0">
                <a:solidFill>
                  <a:srgbClr val="1F3864"/>
                </a:solidFill>
                <a:latin typeface="Calibri" pitchFamily="34" charset="0"/>
                <a:ea typeface="Calibri" pitchFamily="34" charset="-122"/>
                <a:cs typeface="Calibri" pitchFamily="34" charset="-120"/>
              </a:rPr>
              <a:t>Compétences acquises</a:t>
            </a:r>
            <a:endParaRPr lang="en-US" sz="3000" dirty="0"/>
          </a:p>
        </p:txBody>
      </p:sp>
      <p:sp>
        <p:nvSpPr>
          <p:cNvPr id="3" name="Shape 1"/>
          <p:cNvSpPr/>
          <p:nvPr/>
        </p:nvSpPr>
        <p:spPr>
          <a:xfrm>
            <a:off x="548640" y="1600200"/>
            <a:ext cx="3611880" cy="3931920"/>
          </a:xfrm>
          <a:prstGeom prst="rect">
            <a:avLst/>
          </a:prstGeom>
          <a:solidFill>
            <a:srgbClr val="DCE6F1"/>
          </a:solidFill>
          <a:ln/>
        </p:spPr>
      </p:sp>
      <p:sp>
        <p:nvSpPr>
          <p:cNvPr id="4" name="Text 2"/>
          <p:cNvSpPr/>
          <p:nvPr/>
        </p:nvSpPr>
        <p:spPr>
          <a:xfrm>
            <a:off x="731520" y="1783080"/>
            <a:ext cx="324612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Techniques</a:t>
            </a:r>
            <a:endParaRPr lang="en-US" sz="1700" dirty="0"/>
          </a:p>
        </p:txBody>
      </p:sp>
      <p:sp>
        <p:nvSpPr>
          <p:cNvPr id="5" name="Text 3"/>
          <p:cNvSpPr/>
          <p:nvPr/>
        </p:nvSpPr>
        <p:spPr>
          <a:xfrm>
            <a:off x="731520" y="23774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Esquisses et opérations de construction volumique</a:t>
            </a:r>
            <a:endParaRPr lang="en-US" sz="1250" dirty="0"/>
          </a:p>
        </p:txBody>
      </p:sp>
      <p:sp>
        <p:nvSpPr>
          <p:cNvPr id="6" name="Text 4"/>
          <p:cNvSpPr/>
          <p:nvPr/>
        </p:nvSpPr>
        <p:spPr>
          <a:xfrm>
            <a:off x="731520" y="32918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Perçage, congés, chanfreins</a:t>
            </a:r>
            <a:endParaRPr lang="en-US" sz="1250" dirty="0"/>
          </a:p>
        </p:txBody>
      </p:sp>
      <p:sp>
        <p:nvSpPr>
          <p:cNvPr id="7" name="Text 5"/>
          <p:cNvSpPr/>
          <p:nvPr/>
        </p:nvSpPr>
        <p:spPr>
          <a:xfrm>
            <a:off x="731520" y="42062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Premières approches assemblage et mise en plan</a:t>
            </a:r>
            <a:endParaRPr lang="en-US" sz="1250" dirty="0"/>
          </a:p>
        </p:txBody>
      </p:sp>
      <p:sp>
        <p:nvSpPr>
          <p:cNvPr id="8" name="Shape 6"/>
          <p:cNvSpPr/>
          <p:nvPr/>
        </p:nvSpPr>
        <p:spPr>
          <a:xfrm>
            <a:off x="4361688" y="1600200"/>
            <a:ext cx="3611880" cy="3931920"/>
          </a:xfrm>
          <a:prstGeom prst="rect">
            <a:avLst/>
          </a:prstGeom>
          <a:solidFill>
            <a:srgbClr val="1F3864"/>
          </a:solidFill>
          <a:ln/>
        </p:spPr>
      </p:sp>
      <p:sp>
        <p:nvSpPr>
          <p:cNvPr id="9" name="Text 7"/>
          <p:cNvSpPr/>
          <p:nvPr/>
        </p:nvSpPr>
        <p:spPr>
          <a:xfrm>
            <a:off x="4544568" y="1783080"/>
            <a:ext cx="324612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Méthodologiques</a:t>
            </a:r>
            <a:endParaRPr lang="en-US" sz="1700" dirty="0"/>
          </a:p>
        </p:txBody>
      </p:sp>
      <p:sp>
        <p:nvSpPr>
          <p:cNvPr id="10" name="Text 8"/>
          <p:cNvSpPr/>
          <p:nvPr/>
        </p:nvSpPr>
        <p:spPr>
          <a:xfrm>
            <a:off x="4544568" y="2377440"/>
            <a:ext cx="3246120" cy="822960"/>
          </a:xfrm>
          <a:prstGeom prst="rect">
            <a:avLst/>
          </a:prstGeom>
          <a:noFill/>
          <a:ln/>
        </p:spPr>
        <p:txBody>
          <a:bodyPr wrap="square" rtlCol="0" anchor="t"/>
          <a:lstStyle/>
          <a:p>
            <a:pPr indent="0" marL="0">
              <a:lnSpc>
                <a:spcPct val="120000"/>
              </a:lnSpc>
              <a:buNone/>
            </a:pPr>
            <a:r>
              <a:rPr lang="en-US" sz="1250" dirty="0">
                <a:solidFill>
                  <a:srgbClr val="E8EEF9"/>
                </a:solidFill>
                <a:latin typeface="Calibri" pitchFamily="34" charset="0"/>
                <a:ea typeface="Calibri" pitchFamily="34" charset="-122"/>
                <a:cs typeface="Calibri" pitchFamily="34" charset="-120"/>
              </a:rPr>
              <a:t>•  Analyse géométrique préalable</a:t>
            </a:r>
            <a:endParaRPr lang="en-US" sz="1250" dirty="0"/>
          </a:p>
        </p:txBody>
      </p:sp>
      <p:sp>
        <p:nvSpPr>
          <p:cNvPr id="11" name="Text 9"/>
          <p:cNvSpPr/>
          <p:nvPr/>
        </p:nvSpPr>
        <p:spPr>
          <a:xfrm>
            <a:off x="4544568" y="3291840"/>
            <a:ext cx="3246120" cy="822960"/>
          </a:xfrm>
          <a:prstGeom prst="rect">
            <a:avLst/>
          </a:prstGeom>
          <a:noFill/>
          <a:ln/>
        </p:spPr>
        <p:txBody>
          <a:bodyPr wrap="square" rtlCol="0" anchor="t"/>
          <a:lstStyle/>
          <a:p>
            <a:pPr indent="0" marL="0">
              <a:lnSpc>
                <a:spcPct val="120000"/>
              </a:lnSpc>
              <a:buNone/>
            </a:pPr>
            <a:r>
              <a:rPr lang="en-US" sz="1250" dirty="0">
                <a:solidFill>
                  <a:srgbClr val="E8EEF9"/>
                </a:solidFill>
                <a:latin typeface="Calibri" pitchFamily="34" charset="0"/>
                <a:ea typeface="Calibri" pitchFamily="34" charset="-122"/>
                <a:cs typeface="Calibri" pitchFamily="34" charset="-120"/>
              </a:rPr>
              <a:t>•  Décomposition en opérations élémentaires</a:t>
            </a:r>
            <a:endParaRPr lang="en-US" sz="1250" dirty="0"/>
          </a:p>
        </p:txBody>
      </p:sp>
      <p:sp>
        <p:nvSpPr>
          <p:cNvPr id="12" name="Text 10"/>
          <p:cNvSpPr/>
          <p:nvPr/>
        </p:nvSpPr>
        <p:spPr>
          <a:xfrm>
            <a:off x="4544568" y="4206240"/>
            <a:ext cx="3246120" cy="822960"/>
          </a:xfrm>
          <a:prstGeom prst="rect">
            <a:avLst/>
          </a:prstGeom>
          <a:noFill/>
          <a:ln/>
        </p:spPr>
        <p:txBody>
          <a:bodyPr wrap="square" rtlCol="0" anchor="t"/>
          <a:lstStyle/>
          <a:p>
            <a:pPr indent="0" marL="0">
              <a:lnSpc>
                <a:spcPct val="120000"/>
              </a:lnSpc>
              <a:buNone/>
            </a:pPr>
            <a:r>
              <a:rPr lang="en-US" sz="1250" dirty="0">
                <a:solidFill>
                  <a:srgbClr val="E8EEF9"/>
                </a:solidFill>
                <a:latin typeface="Calibri" pitchFamily="34" charset="0"/>
                <a:ea typeface="Calibri" pitchFamily="34" charset="-122"/>
                <a:cs typeface="Calibri" pitchFamily="34" charset="-120"/>
              </a:rPr>
              <a:t>•  Lecture de l'arbre de spécifications</a:t>
            </a:r>
            <a:endParaRPr lang="en-US" sz="1250" dirty="0"/>
          </a:p>
        </p:txBody>
      </p:sp>
      <p:sp>
        <p:nvSpPr>
          <p:cNvPr id="13" name="Shape 11"/>
          <p:cNvSpPr/>
          <p:nvPr/>
        </p:nvSpPr>
        <p:spPr>
          <a:xfrm>
            <a:off x="8174736" y="1600200"/>
            <a:ext cx="3611880" cy="3931920"/>
          </a:xfrm>
          <a:prstGeom prst="rect">
            <a:avLst/>
          </a:prstGeom>
          <a:solidFill>
            <a:srgbClr val="DCE6F1"/>
          </a:solidFill>
          <a:ln/>
        </p:spPr>
      </p:sp>
      <p:sp>
        <p:nvSpPr>
          <p:cNvPr id="14" name="Text 12"/>
          <p:cNvSpPr/>
          <p:nvPr/>
        </p:nvSpPr>
        <p:spPr>
          <a:xfrm>
            <a:off x="8357616" y="1783080"/>
            <a:ext cx="3246120" cy="457200"/>
          </a:xfrm>
          <a:prstGeom prst="rect">
            <a:avLst/>
          </a:prstGeom>
          <a:noFill/>
          <a:ln/>
        </p:spPr>
        <p:txBody>
          <a:bodyPr wrap="square"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Professionnelles</a:t>
            </a:r>
            <a:endParaRPr lang="en-US" sz="1700" dirty="0"/>
          </a:p>
        </p:txBody>
      </p:sp>
      <p:sp>
        <p:nvSpPr>
          <p:cNvPr id="15" name="Text 13"/>
          <p:cNvSpPr/>
          <p:nvPr/>
        </p:nvSpPr>
        <p:spPr>
          <a:xfrm>
            <a:off x="8357616" y="23774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Organisation d'un bureau d'études</a:t>
            </a:r>
            <a:endParaRPr lang="en-US" sz="1250" dirty="0"/>
          </a:p>
        </p:txBody>
      </p:sp>
      <p:sp>
        <p:nvSpPr>
          <p:cNvPr id="16" name="Text 14"/>
          <p:cNvSpPr/>
          <p:nvPr/>
        </p:nvSpPr>
        <p:spPr>
          <a:xfrm>
            <a:off x="8357616" y="32918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Exigences qualité du secteur automobile</a:t>
            </a:r>
            <a:endParaRPr lang="en-US" sz="1250" dirty="0"/>
          </a:p>
        </p:txBody>
      </p:sp>
      <p:sp>
        <p:nvSpPr>
          <p:cNvPr id="17" name="Text 15"/>
          <p:cNvSpPr/>
          <p:nvPr/>
        </p:nvSpPr>
        <p:spPr>
          <a:xfrm>
            <a:off x="8357616" y="4206240"/>
            <a:ext cx="3246120" cy="822960"/>
          </a:xfrm>
          <a:prstGeom prst="rect">
            <a:avLst/>
          </a:prstGeom>
          <a:noFill/>
          <a:ln/>
        </p:spPr>
        <p:txBody>
          <a:bodyPr wrap="square" rtlCol="0" anchor="t"/>
          <a:lstStyle/>
          <a:p>
            <a:pPr indent="0" marL="0">
              <a:lnSpc>
                <a:spcPct val="120000"/>
              </a:lnSpc>
              <a:buNone/>
            </a:pPr>
            <a:r>
              <a:rPr lang="en-US" sz="1250" dirty="0">
                <a:solidFill>
                  <a:srgbClr val="404040"/>
                </a:solidFill>
                <a:latin typeface="Calibri" pitchFamily="34" charset="0"/>
                <a:ea typeface="Calibri" pitchFamily="34" charset="-122"/>
                <a:cs typeface="Calibri" pitchFamily="34" charset="-120"/>
              </a:rPr>
              <a:t>•  Autonomie et travail en équipe</a:t>
            </a:r>
            <a:endParaRPr lang="en-US" sz="1250" dirty="0"/>
          </a:p>
        </p:txBody>
      </p:sp>
      <p:sp>
        <p:nvSpPr>
          <p:cNvPr id="18" name="Text 16"/>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9" name="Text 17"/>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 et perspectives</a:t>
            </a:r>
            <a:endParaRPr lang="en-US" sz="3000" dirty="0"/>
          </a:p>
        </p:txBody>
      </p:sp>
      <p:sp>
        <p:nvSpPr>
          <p:cNvPr id="3" name="Text 1"/>
          <p:cNvSpPr/>
          <p:nvPr/>
        </p:nvSpPr>
        <p:spPr>
          <a:xfrm>
            <a:off x="548640" y="1371600"/>
            <a:ext cx="11064240" cy="914400"/>
          </a:xfrm>
          <a:prstGeom prst="rect">
            <a:avLst/>
          </a:prstGeom>
          <a:noFill/>
          <a:ln/>
        </p:spPr>
        <p:txBody>
          <a:bodyPr wrap="square" rtlCol="0" anchor="ctr"/>
          <a:lstStyle/>
          <a:p>
            <a:pPr indent="0" marL="0">
              <a:lnSpc>
                <a:spcPct val="135000"/>
              </a:lnSpc>
              <a:buNone/>
            </a:pPr>
            <a:r>
              <a:rPr lang="en-US" sz="1600" dirty="0">
                <a:solidFill>
                  <a:srgbClr val="E8EEF9"/>
                </a:solidFill>
                <a:latin typeface="Calibri" pitchFamily="34" charset="0"/>
                <a:ea typeface="Calibri" pitchFamily="34" charset="-122"/>
                <a:cs typeface="Calibri" pitchFamily="34" charset="-120"/>
              </a:rPr>
              <a:t>Ce stage a permis une initiation réussie à CATIA V5, de la découverte de l'interface jusqu'à la modélisation autonome de dix pièces mécaniques représentatives de l'industrie automobile.</a:t>
            </a:r>
            <a:endParaRPr lang="en-US" sz="1600" dirty="0"/>
          </a:p>
        </p:txBody>
      </p:sp>
      <p:sp>
        <p:nvSpPr>
          <p:cNvPr id="4" name="Shape 2"/>
          <p:cNvSpPr/>
          <p:nvPr/>
        </p:nvSpPr>
        <p:spPr>
          <a:xfrm>
            <a:off x="640080" y="2679192"/>
            <a:ext cx="146304" cy="146304"/>
          </a:xfrm>
          <a:prstGeom prst="ellipse">
            <a:avLst/>
          </a:prstGeom>
          <a:solidFill>
            <a:srgbClr val="9FB6DE"/>
          </a:solidFill>
          <a:ln/>
        </p:spPr>
      </p:sp>
      <p:sp>
        <p:nvSpPr>
          <p:cNvPr id="5" name="Text 3"/>
          <p:cNvSpPr/>
          <p:nvPr/>
        </p:nvSpPr>
        <p:spPr>
          <a:xfrm>
            <a:off x="960120" y="2606040"/>
            <a:ext cx="1005840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Approfondir les fonctionnalités d'assemblage complexe</a:t>
            </a:r>
            <a:endParaRPr lang="en-US" sz="1500" dirty="0"/>
          </a:p>
        </p:txBody>
      </p:sp>
      <p:sp>
        <p:nvSpPr>
          <p:cNvPr id="6" name="Shape 4"/>
          <p:cNvSpPr/>
          <p:nvPr/>
        </p:nvSpPr>
        <p:spPr>
          <a:xfrm>
            <a:off x="640080" y="3246120"/>
            <a:ext cx="146304" cy="146304"/>
          </a:xfrm>
          <a:prstGeom prst="ellipse">
            <a:avLst/>
          </a:prstGeom>
          <a:solidFill>
            <a:srgbClr val="9FB6DE"/>
          </a:solidFill>
          <a:ln/>
        </p:spPr>
      </p:sp>
      <p:sp>
        <p:nvSpPr>
          <p:cNvPr id="7" name="Text 5"/>
          <p:cNvSpPr/>
          <p:nvPr/>
        </p:nvSpPr>
        <p:spPr>
          <a:xfrm>
            <a:off x="960120" y="3172968"/>
            <a:ext cx="1005840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Développer la mise en plan normalisée</a:t>
            </a:r>
            <a:endParaRPr lang="en-US" sz="1500" dirty="0"/>
          </a:p>
        </p:txBody>
      </p:sp>
      <p:sp>
        <p:nvSpPr>
          <p:cNvPr id="8" name="Shape 6"/>
          <p:cNvSpPr/>
          <p:nvPr/>
        </p:nvSpPr>
        <p:spPr>
          <a:xfrm>
            <a:off x="640080" y="3813048"/>
            <a:ext cx="146304" cy="146304"/>
          </a:xfrm>
          <a:prstGeom prst="ellipse">
            <a:avLst/>
          </a:prstGeom>
          <a:solidFill>
            <a:srgbClr val="9FB6DE"/>
          </a:solidFill>
          <a:ln/>
        </p:spPr>
      </p:sp>
      <p:sp>
        <p:nvSpPr>
          <p:cNvPr id="9" name="Text 7"/>
          <p:cNvSpPr/>
          <p:nvPr/>
        </p:nvSpPr>
        <p:spPr>
          <a:xfrm>
            <a:off x="960120" y="3739896"/>
            <a:ext cx="1005840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Explorer l'analyse par éléments finis</a:t>
            </a:r>
            <a:endParaRPr lang="en-US" sz="1500" dirty="0"/>
          </a:p>
        </p:txBody>
      </p:sp>
      <p:sp>
        <p:nvSpPr>
          <p:cNvPr id="10" name="Shape 8"/>
          <p:cNvSpPr/>
          <p:nvPr/>
        </p:nvSpPr>
        <p:spPr>
          <a:xfrm>
            <a:off x="640080" y="4379976"/>
            <a:ext cx="146304" cy="146304"/>
          </a:xfrm>
          <a:prstGeom prst="ellipse">
            <a:avLst/>
          </a:prstGeom>
          <a:solidFill>
            <a:srgbClr val="9FB6DE"/>
          </a:solidFill>
          <a:ln/>
        </p:spPr>
      </p:sp>
      <p:sp>
        <p:nvSpPr>
          <p:cNvPr id="11" name="Text 9"/>
          <p:cNvSpPr/>
          <p:nvPr/>
        </p:nvSpPr>
        <p:spPr>
          <a:xfrm>
            <a:off x="960120" y="4306824"/>
            <a:ext cx="1005840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Prolonger l'expérience par un stage de plus longue durée</a:t>
            </a:r>
            <a:endParaRPr lang="en-US" sz="1500" dirty="0"/>
          </a:p>
        </p:txBody>
      </p:sp>
      <p:sp>
        <p:nvSpPr>
          <p:cNvPr id="12" name="Text 10"/>
          <p:cNvSpPr/>
          <p:nvPr/>
        </p:nvSpPr>
        <p:spPr>
          <a:xfrm>
            <a:off x="365760" y="6510528"/>
            <a:ext cx="7315200" cy="274320"/>
          </a:xfrm>
          <a:prstGeom prst="rect">
            <a:avLst/>
          </a:prstGeom>
          <a:noFill/>
          <a:ln/>
        </p:spPr>
        <p:txBody>
          <a:bodyPr wrap="square" rtlCol="0" anchor="ctr"/>
          <a:lstStyle/>
          <a:p>
            <a:pPr indent="0" marL="0">
              <a:buNone/>
            </a:pPr>
            <a:r>
              <a:rPr lang="en-US" sz="900" dirty="0">
                <a:solidFill>
                  <a:srgbClr val="A6A6A6"/>
                </a:solidFill>
                <a:latin typeface="Calibri" pitchFamily="34" charset="0"/>
                <a:ea typeface="Calibri" pitchFamily="34" charset="-122"/>
                <a:cs typeface="Calibri" pitchFamily="34" charset="-120"/>
              </a:rPr>
              <a:t>Rapport de stage — CATIA V5 — Polydesign Systems</a:t>
            </a:r>
            <a:endParaRPr lang="en-US" sz="900" dirty="0"/>
          </a:p>
        </p:txBody>
      </p:sp>
      <p:sp>
        <p:nvSpPr>
          <p:cNvPr id="13" name="Text 11"/>
          <p:cNvSpPr/>
          <p:nvPr/>
        </p:nvSpPr>
        <p:spPr>
          <a:xfrm>
            <a:off x="11457432" y="6510528"/>
            <a:ext cx="457200" cy="274320"/>
          </a:xfrm>
          <a:prstGeom prst="rect">
            <a:avLst/>
          </a:prstGeom>
          <a:noFill/>
          <a:ln/>
        </p:spPr>
        <p:txBody>
          <a:bodyPr wrap="square" rtlCol="0" anchor="ctr"/>
          <a:lstStyle/>
          <a:p>
            <a:pPr algn="r" indent="0" marL="0">
              <a:buNone/>
            </a:pPr>
            <a:r>
              <a:rPr lang="en-US" sz="900" dirty="0">
                <a:solidFill>
                  <a:srgbClr val="A6A6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Merci de votre attention</a:t>
            </a:r>
            <a:endParaRPr lang="en-US" sz="3600" dirty="0"/>
          </a:p>
        </p:txBody>
      </p:sp>
      <p:sp>
        <p:nvSpPr>
          <p:cNvPr id="3" name="Text 1"/>
          <p:cNvSpPr/>
          <p:nvPr/>
        </p:nvSpPr>
        <p:spPr>
          <a:xfrm>
            <a:off x="731520" y="3566160"/>
            <a:ext cx="10725912" cy="548640"/>
          </a:xfrm>
          <a:prstGeom prst="rect">
            <a:avLst/>
          </a:prstGeom>
          <a:noFill/>
          <a:ln/>
        </p:spPr>
        <p:txBody>
          <a:bodyPr wrap="square" rtlCol="0" anchor="ctr"/>
          <a:lstStyle/>
          <a:p>
            <a:pPr algn="ctr" indent="0" marL="0">
              <a:buNone/>
            </a:pPr>
            <a:r>
              <a:rPr lang="en-US" sz="2000" i="1" dirty="0">
                <a:solidFill>
                  <a:srgbClr val="9FB6DE"/>
                </a:solidFill>
                <a:latin typeface="Calibri" pitchFamily="34" charset="0"/>
                <a:ea typeface="Calibri" pitchFamily="34" charset="-122"/>
                <a:cs typeface="Calibri" pitchFamily="34" charset="-120"/>
              </a:rPr>
              <a:t>Questions ?</a:t>
            </a:r>
            <a:endParaRPr lang="en-US" sz="2000" dirty="0"/>
          </a:p>
        </p:txBody>
      </p:sp>
      <p:sp>
        <p:nvSpPr>
          <p:cNvPr id="4" name="Text 2"/>
          <p:cNvSpPr/>
          <p:nvPr/>
        </p:nvSpPr>
        <p:spPr>
          <a:xfrm>
            <a:off x="731520" y="6035040"/>
            <a:ext cx="10725912" cy="365760"/>
          </a:xfrm>
          <a:prstGeom prst="rect">
            <a:avLst/>
          </a:prstGeom>
          <a:noFill/>
          <a:ln/>
        </p:spPr>
        <p:txBody>
          <a:bodyPr wrap="square" rtlCol="0" anchor="ctr"/>
          <a:lstStyle/>
          <a:p>
            <a:pPr algn="ctr" indent="0" marL="0">
              <a:buNone/>
            </a:pPr>
            <a:r>
              <a:rPr lang="en-US" sz="1200" dirty="0">
                <a:solidFill>
                  <a:srgbClr val="9FB6DE"/>
                </a:solidFill>
                <a:latin typeface="Calibri" pitchFamily="34" charset="0"/>
                <a:ea typeface="Calibri" pitchFamily="34" charset="-122"/>
                <a:cs typeface="Calibri" pitchFamily="34" charset="-120"/>
              </a:rPr>
              <a:t>Walid Anebarou — BTS Conception du Produit Industriel — Polydesign Systems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2026-08-07T00:59:24Z</dcterms:created>
  <dcterms:modified xsi:type="dcterms:W3CDTF">2026-08-07T00:59:24Z</dcterms:modified>
</cp:coreProperties>
</file>