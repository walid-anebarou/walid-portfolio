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nowflak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229600" y="-1188720"/>
            <a:ext cx="5120640" cy="5120640"/>
          </a:xfrm>
          <a:prstGeom prst="rect">
            <a:avLst/>
          </a:prstGeom>
        </p:spPr>
      </p:pic>
      <p:pic>
        <p:nvPicPr>
          <p:cNvPr id="3" name="Image 1" descr="icons/snowflak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1463040" y="4206240"/>
            <a:ext cx="3657600" cy="3657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STAGE DE FIN D'ÉTUDES  •  BTS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7724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d'une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centrale frigorifique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réalisé au sein de FREEZER — Casablanca, Maroc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22960" y="457200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16294D"/>
          </a:solidFill>
          <a:ln/>
        </p:spPr>
      </p:sp>
      <p:sp>
        <p:nvSpPr>
          <p:cNvPr id="8" name="Text 4"/>
          <p:cNvSpPr/>
          <p:nvPr/>
        </p:nvSpPr>
        <p:spPr>
          <a:xfrm>
            <a:off x="1051560" y="47183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703320" y="47183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 ANEBAROU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51560" y="5138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professionnel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703320" y="51389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Abdelilah EL HAKOURI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51560" y="5559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de stage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703320" y="5559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20/07/2023 — 10/08/2023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6" name="Image 0" descr="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202137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L'entreprise FREEZER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4495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Présentation, chiffres clés et références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947672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1" name="Image 1" descr="icons/snowfl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853" y="20213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6517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domaine frigorifique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304495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cycle de compression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947672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6" name="Image 2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333" y="202137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6517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équipements techniques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304495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Centrale, condenseur, détendeur, régulation…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21" name="Image 3" descr="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373" y="417021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006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FRESH LEAF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19379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dimensionnement et implantation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096512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26" name="Image 4" descr="icons/tas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853" y="417021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8006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réinstallation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5152" y="519379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9 étapes réalisées sur le site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096512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31" name="Image 5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9333" y="417021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8006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stage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85632" y="519379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développées et conclusion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 — CADRE DU STAGE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L'entreprise FREEZER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 est une société marocaine créée en 2014 et basée à Casablanca. Elle assure l'étude, la conception, la réalisation et la maintenance de tous types d'installations frigorifiques à usage industriel et commercial : chambres froides positives et négatives, vitrines réfrigérées, entrepôts frigorifiques, tunnels de congélation et machines à glace.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5943600" cy="2331720"/>
          </a:xfrm>
          <a:prstGeom prst="roundRect">
            <a:avLst>
              <a:gd name="adj" fmla="val 3529"/>
            </a:avLst>
          </a:prstGeom>
          <a:solidFill>
            <a:srgbClr val="1322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juridique  S.A.R.L.   •   Capital social  500 000 DHS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Domicile légal : Boulevard Moulay Youssef, Casablanca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 commerce : 304543 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600200"/>
            <a:ext cx="4754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86600" y="1801368"/>
            <a:ext cx="713232" cy="713232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1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320" y="1894088"/>
            <a:ext cx="527792" cy="5277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955280" y="220370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au total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0" y="2880360"/>
            <a:ext cx="4754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86600" y="3081528"/>
            <a:ext cx="713232" cy="713232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6" name="Image 1" descr="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320" y="3174248"/>
            <a:ext cx="527792" cy="5277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55280" y="2971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955280" y="348386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monteurs &amp; frigoristes qualifiés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903720" y="4160520"/>
            <a:ext cx="4754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86600" y="4361688"/>
            <a:ext cx="713232" cy="713232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21" name="Image 2" descr="icons/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320" y="4454408"/>
            <a:ext cx="527792" cy="5277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4251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 m²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7955280" y="476402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de stockage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03720" y="5440680"/>
            <a:ext cx="4754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086600" y="5641848"/>
            <a:ext cx="713232" cy="713232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26" name="Image 3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320" y="5734568"/>
            <a:ext cx="527792" cy="5277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55280" y="5532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10+2+2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7955280" y="604418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véhicules, camionnettes et nacelles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 — CADRE DU STAGE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Croissance et références clients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du chiffre d'affaires (2014–2019)</a:t>
            </a:r>
            <a:endParaRPr lang="en-US" sz="1400" dirty="0"/>
          </a:p>
        </p:txBody>
      </p:sp>
      <p:pic>
        <p:nvPicPr>
          <p:cNvPr id="6" name="Image 0" descr="assets/chiffre_affair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31720"/>
            <a:ext cx="4846320" cy="2505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continue depuis la création de l'entreprise, portée par le développement de sa clientèle sur le marché du froid industriel et commercial au Maroc.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700784"/>
            <a:ext cx="128016" cy="128016"/>
          </a:xfrm>
          <a:prstGeom prst="ellipse">
            <a:avLst/>
          </a:prstGeom>
          <a:solidFill>
            <a:srgbClr val="0FB5C4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15910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distribution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37960" y="19019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sites Marjane (installation + 15 contrats de maintenance)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596896"/>
            <a:ext cx="128016" cy="128016"/>
          </a:xfrm>
          <a:prstGeom prst="ellipse">
            <a:avLst/>
          </a:prstGeom>
          <a:solidFill>
            <a:srgbClr val="0FB5C4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4871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Agroalimentaire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37960" y="27980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LOGISMAR, Real Foods, AMLA Groupe, Huileries de Souss…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3493008"/>
            <a:ext cx="128016" cy="128016"/>
          </a:xfrm>
          <a:prstGeom prst="ellipse">
            <a:avLst/>
          </a:prstGeom>
          <a:solidFill>
            <a:srgbClr val="0FB5C4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Pharmaceutique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537960" y="36941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M.C.I Mohammedia — chambre froide de 300 m³ pour vaccins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4389120"/>
            <a:ext cx="128016" cy="128016"/>
          </a:xfrm>
          <a:prstGeom prst="ellipse">
            <a:avLst/>
          </a:prstGeom>
          <a:solidFill>
            <a:srgbClr val="0FB5C4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4279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Hôtellerie &amp; restauration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37960" y="45902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Casablanca, El Jadida, Marrakech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5285232"/>
            <a:ext cx="128016" cy="128016"/>
          </a:xfrm>
          <a:prstGeom prst="ellipse">
            <a:avLst/>
          </a:prstGeom>
          <a:solidFill>
            <a:srgbClr val="0FB5C4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51755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industrielle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537960" y="5486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Rahal, Restaurant Chef Mouha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DOMAINE FRIGORIFIQUE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 du circuit frigorifique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pic>
        <p:nvPicPr>
          <p:cNvPr id="5" name="Image 0" descr="assets/circuit_simp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603504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715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Compresseur, condenseur, détendeur, évaporateur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43800" y="1828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frigorifique par compression exploite les propriétés physiques d'un fluide frigorigène qui change alternativement d'état (liquide / vapeur) afin d'absorber puis de rejeter de la chaleur.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43800" y="3337560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9" name="Image 1" descr="icons/comp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501" y="341126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5320" y="3447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Compresseur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543800" y="4178808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2" name="Image 2" descr="icons/f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501" y="4252509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42885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Condenseur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543800" y="5020056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5" name="Image 3" descr="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7501" y="5093757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75320" y="51297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Détendeur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7543800" y="5861304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8" name="Image 4" descr="icons/snowfl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501" y="5935005"/>
            <a:ext cx="419527" cy="4195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75320" y="5971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Évaporateur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DOMAINE FRIGORIFIQUE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en quatre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74920" y="1892808"/>
            <a:ext cx="548640" cy="54864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7" name="Image 0" descr="icons/com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243" y="1964131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560320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926080"/>
            <a:ext cx="4882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compresseur aspire le fluide à basse pression et basse température, puis élève sa pression et sa température par travail mécanique.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8562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10789920" y="1892808"/>
            <a:ext cx="548640" cy="54864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3" name="Image 1" descr="icons/f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1243" y="1964131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19672" y="2560320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19672" y="2926080"/>
            <a:ext cx="4882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vapeurs chaudes HP cèdent leur chaleur à l'air ou à l'eau dans le condenseur : la vapeur se transforme progressivement en liquide.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00507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5074920" y="4041648"/>
            <a:ext cx="548640" cy="54864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9" name="Image 2" descr="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243" y="4112971"/>
            <a:ext cx="405994" cy="40599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" y="4709160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Détente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04672" y="5074920"/>
            <a:ext cx="4882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liquide sous-refroidi traverse le détendeur : un abaissement brusque de pression module le débit admis dans l'évaporateur.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263640" y="3840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492240" y="400507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Shape 19"/>
          <p:cNvSpPr/>
          <p:nvPr/>
        </p:nvSpPr>
        <p:spPr>
          <a:xfrm>
            <a:off x="10789920" y="4041648"/>
            <a:ext cx="548640" cy="54864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25" name="Image 3" descr="icons/snowfl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243" y="4112971"/>
            <a:ext cx="405994" cy="4059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19672" y="4709160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Évaporation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519672" y="5074920"/>
            <a:ext cx="4882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fluide entre en ébullition dans l'évaporateur en absorbant la chaleur du milieu à refroidir : c'est l'effet utile de l'installation.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DOMAINE FRIGORIFIQUE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États du fluide le long de l'installation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2237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5" name="Image 0" descr="assets/circuit_eta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6583680" cy="3081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166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Repères 1 à 9 : de la vapeur BP à la vapeur HP, puis du liquide HP au liquide BP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92440" y="19202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suivi point par point de l'état du fluide — vapeur BP à l'aspiration, vapeur HP au refoulement, désurchauffe puis condensation, liquide HP, liquide BP en sortie de détendeur, puis évaporation — est un outil de diagnostic essentiel pour le technicien frigoriste.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443484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32257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46177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évaporateur : 5 à 7 °C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Sous-refroidissement : 4 à 7 °C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 — ÉQUIPEMENTS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centrale frigorifique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5" name="Image 0" descr="assets/centrale_phot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669280" cy="3456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486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frigorifique installée sur site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49440" y="17373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Plusieurs compresseurs, un même châssis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2331720"/>
            <a:ext cx="502920" cy="502920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9" name="Image 1" descr="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820" y="239710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5240" y="23042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frigorifique adaptée à la demande réelle, par mise en service ou arrêt d'un ou plusieurs compresseurs.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949440" y="3566160"/>
            <a:ext cx="502920" cy="502920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2" name="Image 2" descr="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820" y="363154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35240" y="353872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accrue : l'incident sur un compresseur n'interrompt pas la production de froid.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949440" y="4800600"/>
            <a:ext cx="502920" cy="502920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5" name="Image 3" descr="icons/ru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486598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35240" y="477316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de puissance possible, pour la sécurité ou une extension future de l'installation.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 — ÉQUIPEMENTS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Régulation et pilotage de l'installation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5" name="Image 0" descr="assets/condenseur_photo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01368"/>
            <a:ext cx="2478024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5112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Condenseur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Échangeur qui transforme les vapeurs surchauffées en liquide sous-refroidi par échange avec l'air ou l'eau.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3502152" y="169164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9" name="Image 1" descr="assets/detendeur_photo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1880" y="1801368"/>
            <a:ext cx="2478024" cy="160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66744" y="35112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Détendeur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666744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le débit de fluide frigorigène admis à l'entrée de l'évaporateur selon les besoins.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6455664" y="169164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13" name="Image 2" descr="assets/regulateur_photo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65392" y="1801368"/>
            <a:ext cx="2478024" cy="160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0256" y="35112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Régulateur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620256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complète d'un meuble ou d'une chambre froide, avec configurations prédéfinies.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9409176" y="169164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17" name="Image 3" descr="assets/automate_photo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18904" y="1801368"/>
            <a:ext cx="2478024" cy="160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73768" y="35112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programmable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573768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modulaire, bus CAN et Modbus RS485 pour l'intégration en GTB.</a:t>
            </a:r>
            <a:endParaRPr lang="en-US" sz="98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 — ÉQUIPEMENTS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Évaporateurs, capteurs et organes de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5" name="Image 0" descr="assets/evaporateur_photo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8760" y="1920240"/>
            <a:ext cx="329184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806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Évaporateur installé en chambre froide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89320" y="1783080"/>
            <a:ext cx="621792" cy="621792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8" name="Image 1" descr="icons/thermome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153" y="1863913"/>
            <a:ext cx="460126" cy="4601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764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Sondes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1228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Transforment la température en un signal électrique exploitable par le régulateur ou l'automate.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89320" y="3264408"/>
            <a:ext cx="621792" cy="621792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2" name="Image 2" descr="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153" y="3345241"/>
            <a:ext cx="460126" cy="4601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Capteurs de pression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812280" y="363016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Déterminent la pression réellement appliquée et la convertissent en signal de sortie.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989320" y="4745736"/>
            <a:ext cx="621792" cy="621792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6" name="Image 3" descr="icons/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0153" y="4826569"/>
            <a:ext cx="460126" cy="4601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2280" y="4727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Vannes de service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812280" y="51114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Facilitent la maintenance, le dépannage et le contrôle d'un circuit frigorifique.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 — DÉROULEMENT DE LA MISSION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FRESH LEAF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1629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B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de la mission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LEAF a formulé, dans son cahier des charges, la nécessité de changer le fluide frigorigène alimentant ses chambres froides ainsi que de procéder au remplacement global des régulateurs de température.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modifications imposaient à FREEZER une réinstallation partielle du réseau de câbles ainsi que de plusieurs équipements : condenseur, centrales positive et négative, réseau de tuyauterie cuivre.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prévue à l'horizon 2024 — Zone de Skhirat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en froid du site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2286000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1" name="Image 0" descr="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221" y="2359701"/>
            <a:ext cx="419527" cy="4195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23042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78040" y="26517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 froides positives et négatives pour produits finis et matières premières.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446520" y="3474720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5" name="Image 1" descr="icons/snowfl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221" y="3548421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3493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aliments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178040" y="38404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Refroidissement, surgélation par tunnel ou surgélateur manuel, suremballage.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446520" y="4663440"/>
            <a:ext cx="566928" cy="566928"/>
          </a:xfrm>
          <a:prstGeom prst="ellipse">
            <a:avLst/>
          </a:prstGeom>
          <a:solidFill>
            <a:srgbClr val="0FB5C4"/>
          </a:solidFill>
          <a:ln/>
        </p:spPr>
      </p:sp>
      <p:pic>
        <p:nvPicPr>
          <p:cNvPr id="19" name="Image 2" descr="icons/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221" y="473714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4681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 d'expédition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178040" y="50292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maintenue à 8 °C pour la préparation des expéditions.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 — DÉROULEMENT DE LA MISSION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Panneaux isothermes et accessoires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675120" cy="2834643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Repère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(m²)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6450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6360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412,764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4510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34,727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4200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PNX 3500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panneaux isothermes et surfaces correspondantes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6675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2120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plinthes  •  </a:t>
            </a:r>
            <a:r>
              <a:rPr lang="en-US" sz="16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 d'angle  •  </a:t>
            </a:r>
            <a:r>
              <a:rPr lang="en-US" sz="16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de sol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coulissantes  •  </a:t>
            </a:r>
            <a:r>
              <a:rPr lang="en-US" sz="16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va-et-vient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43800" y="169164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10" name="Image 0" descr="assets/panneaux_installation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0" y="1965960"/>
            <a:ext cx="3017520" cy="3794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680" y="5806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des panneaux isothermes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 — DÉROULEMENT DE LA MISSION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Implantation du site FRESH LEAF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5" name="Image 0" descr="assets/plan_implantation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874520"/>
            <a:ext cx="1046988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897880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d'isolation et plan de production de froid — zones de parage, triage, chambres froides, expédition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 — DÉROULEMENT DE LA MISSION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9 étapes de la réinstallation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019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des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 isothermes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7373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385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30952" y="19019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et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de câbles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84464" y="17373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85632" y="19385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98864" y="19019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des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évaporateurs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5387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5021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câbles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16552" y="33375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5387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30952" y="35021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réseau cuivre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84464" y="33375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85632" y="35387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26" name="Text 24"/>
          <p:cNvSpPr/>
          <p:nvPr/>
        </p:nvSpPr>
        <p:spPr>
          <a:xfrm>
            <a:off x="8485632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98864" y="35021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l'étanchéité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51389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138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51023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vide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16552" y="49377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51389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5138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30952" y="51023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sous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d'azote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84464" y="49377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43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85632" y="5138928"/>
            <a:ext cx="566928" cy="566928"/>
          </a:xfrm>
          <a:prstGeom prst="ellipse">
            <a:avLst/>
          </a:prstGeom>
          <a:solidFill>
            <a:srgbClr val="132257"/>
          </a:solidFill>
          <a:ln/>
        </p:spPr>
      </p:sp>
      <p:sp>
        <p:nvSpPr>
          <p:cNvPr id="38" name="Text 36"/>
          <p:cNvSpPr/>
          <p:nvPr/>
        </p:nvSpPr>
        <p:spPr>
          <a:xfrm>
            <a:off x="8485632" y="5138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98864" y="5102352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en fluide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frigorigène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GÉNÉRALE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et compétences développées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430">
                <a:alpha val="15000"/>
              </a:srgbClr>
            </a:outerShdw>
          </a:effectLst>
        </p:spPr>
      </p:sp>
      <p:pic>
        <p:nvPicPr>
          <p:cNvPr id="5" name="Image 0" descr="assets/evaporateur_installation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920240"/>
            <a:ext cx="452628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783080"/>
            <a:ext cx="502920" cy="50292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7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80" y="184846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00" y="1737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approfondie du cycle frigorifique par compression et du rôle de chaque composant.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943600" y="2880360"/>
            <a:ext cx="502920" cy="50292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0" name="Image 2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980" y="2945740"/>
            <a:ext cx="372161" cy="372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29400" y="2834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aux techniques d'installation d'une centrale frigorifique en environnement industriel réel.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943600" y="3977640"/>
            <a:ext cx="502920" cy="50292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3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980" y="4043020"/>
            <a:ext cx="372161" cy="372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29400" y="3931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aux exigences de rigueur et de sécurité lors des opérations de mise sous pression et de charge.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943600" y="5074920"/>
            <a:ext cx="502920" cy="502920"/>
          </a:xfrm>
          <a:prstGeom prst="ellipse">
            <a:avLst/>
          </a:prstGeom>
          <a:solidFill>
            <a:srgbClr val="132257"/>
          </a:solidFill>
          <a:ln/>
        </p:spPr>
      </p:sp>
      <p:pic>
        <p:nvPicPr>
          <p:cNvPr id="16" name="Image 4" descr="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8980" y="5140300"/>
            <a:ext cx="372161" cy="3721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29400" y="5029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transversales : organisation, travail en équipe, communication avec les techniciens et encadrants.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nowflak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4480560" y="-109728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d'une centrale frigorifique  —  FREEZER, Casablanca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 ANEBAROU  •  Encadrant : M. Abdelilah EL HAKOURI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1212</Words>
  <Application>Microsoft Office PowerPoint</Application>
  <PresentationFormat>Widescreen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walid anebarou</dc:creator>
  <cp:lastModifiedBy>waled sama</cp:lastModifiedBy>
  <cp:revision>2</cp:revision>
  <dcterms:created xsi:type="dcterms:W3CDTF">2026-08-07T23:58:27Z</dcterms:created>
  <dcterms:modified xsi:type="dcterms:W3CDTF">2026-08-08T19:15:53Z</dcterms:modified>
</cp:coreProperties>
</file>