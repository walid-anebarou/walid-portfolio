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75488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DA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— SOUTENANCE DE FIN D'ÉTUDES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d'une centrale frigorifique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Réinstallation d'un système frigorifique industriel — Cas du site FRESH LEAF (Skhirat)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 Anebarou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Abdelilah El Hakouri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d'accueil : FREEZER — Créateur de solutions techniques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entreprise d'accueil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214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et objectifs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77977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79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7797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cycle frigorifique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4381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43814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d'une centrale frigorifique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FRESH LEAF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4754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la réinstallation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54132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413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413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Résultats, limites et perspectives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 de solutions techniques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marocaine créée en 2014 à Casablanca, spécialisée dans l'étude, la conception, la réalisation et la maintenance d'installations frigorifiques industrielles et commerciales.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502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du stage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frigoristes qualifiés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2103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en contrat de maintenance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14984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/>
        </p:spPr>
      </p:sp>
      <p:sp>
        <p:nvSpPr>
          <p:cNvPr id="17" name="Text 15"/>
          <p:cNvSpPr/>
          <p:nvPr/>
        </p:nvSpPr>
        <p:spPr>
          <a:xfrm>
            <a:off x="10149840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241280" y="2103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de création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Domaines d'intervention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09160" y="3630168"/>
            <a:ext cx="91440" cy="9144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distribution (Marjane)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4087368"/>
            <a:ext cx="91440" cy="9144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9776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Agroalimentaire (LOGISMAR, Real Foods…)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4544568"/>
            <a:ext cx="91440" cy="9144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4348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Laboratoires pharmaceutiques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5001768"/>
            <a:ext cx="91440" cy="9144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892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Hôtellerie, restauration et boulangerie industrielle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et objectifs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EEF3FE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Concilier performance énergétique et maîtrise des coûts dans une installation frigorifique industrielle, tout en répondant au cahier des charges du client FRESH LEAF : changement du fluide frigorigène et remplacement global des régulateurs de température.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stage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340864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1762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 fonctionnement d'une entreprise de froid industriel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3236976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307238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principes du cycle frigorifique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4133088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96849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Participer aux travaux de réinstallation sur site client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5029200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48646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pratique les connaissances acquises en BTS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Principe du cycle frigorifique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étapes assurées par compresseur, condenseur, détendeur et évaporateur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EF3FE"/>
          </a:solidFill>
          <a:ln/>
        </p:spPr>
      </p:sp>
      <p:sp>
        <p:nvSpPr>
          <p:cNvPr id="5" name="Shape 3"/>
          <p:cNvSpPr/>
          <p:nvPr/>
        </p:nvSpPr>
        <p:spPr>
          <a:xfrm>
            <a:off x="1650492" y="2103120"/>
            <a:ext cx="502920" cy="50292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6" name="Text 4"/>
          <p:cNvSpPr/>
          <p:nvPr/>
        </p:nvSpPr>
        <p:spPr>
          <a:xfrm>
            <a:off x="165049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compresseur aspire le fluide (BP) et élève sa pression et sa température (vapeur HP).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3264408" y="2880360"/>
            <a:ext cx="128016" cy="128016"/>
          </a:xfrm>
          <a:prstGeom prst="triangle">
            <a:avLst/>
          </a:prstGeom>
          <a:solidFill>
            <a:srgbClr val="3DAED8"/>
          </a:solidFill>
          <a:ln/>
        </p:spPr>
      </p:sp>
      <p:sp>
        <p:nvSpPr>
          <p:cNvPr id="10" name="Shape 8"/>
          <p:cNvSpPr/>
          <p:nvPr/>
        </p:nvSpPr>
        <p:spPr>
          <a:xfrm>
            <a:off x="3410712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8FF"/>
          </a:solidFill>
          <a:ln/>
        </p:spPr>
      </p:sp>
      <p:sp>
        <p:nvSpPr>
          <p:cNvPr id="11" name="Shape 9"/>
          <p:cNvSpPr/>
          <p:nvPr/>
        </p:nvSpPr>
        <p:spPr>
          <a:xfrm>
            <a:off x="4421124" y="2103120"/>
            <a:ext cx="502920" cy="50292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2" name="Text 10"/>
          <p:cNvSpPr/>
          <p:nvPr/>
        </p:nvSpPr>
        <p:spPr>
          <a:xfrm>
            <a:off x="4421124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7872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32918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vapeurs chaudes cèdent leur chaleur au condenseur et se transforment en liquide HP.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35040" y="2880360"/>
            <a:ext cx="128016" cy="128016"/>
          </a:xfrm>
          <a:prstGeom prst="triangle">
            <a:avLst/>
          </a:prstGeom>
          <a:solidFill>
            <a:srgbClr val="3DAE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1344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EF3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91756" y="2103120"/>
            <a:ext cx="502920" cy="50292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191756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64224" y="32918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détendeur abaisse brusquement la pression, modulant le débit vers l'évaporateur.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805672" y="2880360"/>
            <a:ext cx="128016" cy="128016"/>
          </a:xfrm>
          <a:prstGeom prst="triangle">
            <a:avLst/>
          </a:prstGeom>
          <a:solidFill>
            <a:srgbClr val="3DAED8"/>
          </a:solidFill>
          <a:ln/>
        </p:spPr>
      </p:sp>
      <p:sp>
        <p:nvSpPr>
          <p:cNvPr id="22" name="Shape 20"/>
          <p:cNvSpPr/>
          <p:nvPr/>
        </p:nvSpPr>
        <p:spPr>
          <a:xfrm>
            <a:off x="8951976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8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962388" y="2103120"/>
            <a:ext cx="502920" cy="50292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24" name="Text 22"/>
          <p:cNvSpPr/>
          <p:nvPr/>
        </p:nvSpPr>
        <p:spPr>
          <a:xfrm>
            <a:off x="9962388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89136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Évaporation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34856" y="32918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fluide s'évapore en absorbant la chaleur du milieu à refroidir : c'est l'effet utile.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installation moderne module ce cycle via un automate programmable pour optimiser la consommation d'énergie.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Équipements d'une centrale frigorifique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3F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35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Centrale multi-compresseurs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la puissance à la demande, fiabilise la production de froid.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3FE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435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Condenseur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les vapeurs surchauffées en liquide sous-refroidi.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2344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3FE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435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Détendeur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le débit de fluide à l'entrée de l'évaporateur.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3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264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227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Évaporateur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 la chaleur du milieu à refroidir — l'effet utile du cycle.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0632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3FE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264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3227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Régulateur &amp; automate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des compresseurs, ventilateurs et sécurités.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0632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3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458200" y="3264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2560" y="3227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Sondes &amp; capteurs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5256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Mesurent température et pression pour la régulation.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organe joue un rôle précis dans le transfert d'énergie entre la source froide et la source chaude.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FRESH LEAF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 Skhirat — ouverture prévue à l'horizon 2024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A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 client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du fluide frigorigène alimentant les chambres froides et remplacement global des régulateurs de température.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Conséquence pour FREEZER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005072"/>
            <a:ext cx="109728" cy="109728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8587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Réinstallation du réseau de câbles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480560"/>
            <a:ext cx="109728" cy="109728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33425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du condenseur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956048"/>
            <a:ext cx="109728" cy="109728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097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Réinstallation des deux centrales (positive et négative)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431536"/>
            <a:ext cx="109728" cy="109728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52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du réseau cuivre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9319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4A557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en froid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572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Stockage :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 froides positives et négatives
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Traitement :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refroidissement, surgélation, suremballage, quai d'expédition (8 °C)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Dimensionnement des panneaux isothermes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256032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  <a:gridCol w="1310640"/>
                <a:gridCol w="1310640"/>
                <a:gridCol w="1310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(m²)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6450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156,09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6360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412,764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4510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34,727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4200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2000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3500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234440"/>
            <a:ext cx="2743200" cy="4937760"/>
          </a:xfrm>
          <a:prstGeom prst="roundRect">
            <a:avLst>
              <a:gd name="adj" fmla="val 2667"/>
            </a:avLst>
          </a:prstGeom>
          <a:solidFill>
            <a:srgbClr val="EEF3FE"/>
          </a:solidFill>
          <a:ln/>
        </p:spPr>
      </p:sp>
      <p:sp>
        <p:nvSpPr>
          <p:cNvPr id="5" name="Text 2"/>
          <p:cNvSpPr/>
          <p:nvPr/>
        </p:nvSpPr>
        <p:spPr>
          <a:xfrm>
            <a:off x="900684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Accessoires &amp; portes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8745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Plinthe 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 d'angle 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 sol 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 coulissantes 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 va-et-vient 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023360"/>
            <a:ext cx="7863840" cy="2103120"/>
          </a:xfrm>
          <a:prstGeom prst="roundRect">
            <a:avLst>
              <a:gd name="adj" fmla="val 3478"/>
            </a:avLst>
          </a:prstGeom>
          <a:solidFill>
            <a:srgbClr val="FFF3E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de vigilance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617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surface totale du repère PNX 3500 n'était pas renseignée dans les données disponibles. Elle est signalée ici comme donnée à compléter auprès du bureau d'études plutôt qu'estimée arbitrairement.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Étapes de la réinstallation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106070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 isothermes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938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92938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3108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de câbles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526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8892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Évaporateurs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8114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3108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de câbles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0702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90702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cuivre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3290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23290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3108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d'étanchéité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5878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55878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9244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au vide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84664" y="25237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88466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18320" y="3108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sous azote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210544" y="2523744"/>
            <a:ext cx="502920" cy="502920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29" name="Text 27"/>
          <p:cNvSpPr/>
          <p:nvPr/>
        </p:nvSpPr>
        <p:spPr>
          <a:xfrm>
            <a:off x="11210544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74420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en fluide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20624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A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Ordre critique : étanchéité → vide → pression → charge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Sous-refroidissement visé : 4 à 7 °C   •   Surchauffe évaporateur visée : 4 à 8 °C   •   Contrôle de l'intensité compresseur par rapport à la plaque signalétique.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 d'amélioration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du travail réalisé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thermique complet et le dimensionnement chiffré définitif des organes de l'installation FRESH LEAF n'étaient pas finalisés à la rédaction de ce rapport — ils relèvent d'une étude plus approfondie menée en amont par le bureau d'études.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2221992"/>
            <a:ext cx="118872" cy="118872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0574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flottante HP/BP pour mieux adapter la puissance à la demande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3182112"/>
            <a:ext cx="118872" cy="118872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3017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Détendeurs électroniques en remplacement des détendeurs mécaniques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4142232"/>
            <a:ext cx="118872" cy="118872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39776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des contrôles préventifs de maintenance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5102352"/>
            <a:ext cx="118872" cy="118872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4937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pièces de rechange pour les points critiques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générale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stage a permis de participer concrètement au cycle complet de réinstallation d'une centrale frigorifique industrielle, de la pose des panneaux isothermes à la charge finale en fluide frigorigène.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907792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frigorifique et rôle des composants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410712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d'installation en environnement industriel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913632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et sécurité (mise sous pression, charge)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416552"/>
            <a:ext cx="128016" cy="128016"/>
          </a:xfrm>
          <a:prstGeom prst="ellipse">
            <a:avLst/>
          </a:prstGeom>
          <a:solidFill>
            <a:srgbClr val="3DAED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et travail en équipe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512064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4A557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257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EEF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stage a consolidé une base solide pour approfondir, à l'avenir, le dimensionnement complet des installations frigorifiques industrielles.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— Rapport de stage BTS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4297680"/>
            <a:ext cx="1371600" cy="0"/>
          </a:xfrm>
          <a:prstGeom prst="line">
            <a:avLst/>
          </a:prstGeom>
          <a:noFill/>
          <a:ln w="25400">
            <a:solidFill>
              <a:srgbClr val="3DA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 Anebarou  •  BTS Froid et Climatisation, Safi  •  Stage chez FREEZER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d'une centrale frigorifique — Soutenance BTS</dc:title>
  <dc:subject>PptxGenJS Presentation</dc:subject>
  <dc:creator>Walid Anebarou</dc:creator>
  <cp:lastModifiedBy>Walid Anebarou</cp:lastModifiedBy>
  <cp:revision>1</cp:revision>
  <dcterms:created xsi:type="dcterms:W3CDTF">2026-08-06T22:24:30Z</dcterms:created>
  <dcterms:modified xsi:type="dcterms:W3CDTF">2026-08-06T22:24:30Z</dcterms:modified>
</cp:coreProperties>
</file>